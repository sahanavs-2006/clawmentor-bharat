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2"/>
  </p:notesMasterIdLst>
  <p:sldIdLst>
    <p:sldId id="374" r:id="rId2"/>
    <p:sldId id="375" r:id="rId3"/>
    <p:sldId id="257" r:id="rId4"/>
    <p:sldId id="376" r:id="rId5"/>
    <p:sldId id="377" r:id="rId6"/>
    <p:sldId id="378" r:id="rId7"/>
    <p:sldId id="379" r:id="rId8"/>
    <p:sldId id="380" r:id="rId9"/>
    <p:sldId id="382" r:id="rId10"/>
    <p:sldId id="383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91" autoAdjust="0"/>
    <p:restoredTop sz="94660"/>
  </p:normalViewPr>
  <p:slideViewPr>
    <p:cSldViewPr snapToGrid="0">
      <p:cViewPr varScale="1">
        <p:scale>
          <a:sx n="82" d="100"/>
          <a:sy n="82" d="100"/>
        </p:scale>
        <p:origin x="49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6BAFF0E-449D-426B-83E6-7E557F3BCD7F}" type="datetimeFigureOut">
              <a:rPr lang="en-IN" smtClean="0"/>
              <a:t>11-05-2026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C2ADFC2-4656-49F6-8F5B-84313FD6521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3128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577325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141264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788653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271269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21338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513068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895355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003243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E264D7-FD5D-4592-B4BA-0A1638C2827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4322DA6-5CC0-4908-AB19-3BCB77EFC6E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FF6F72-5872-4CEB-A8C1-89CFCA5497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7F44E2-D9AA-43EA-B93A-EEC6CDC19CD5}" type="datetimeFigureOut">
              <a:rPr lang="en-IN" smtClean="0"/>
              <a:t>11-05-2026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46BC3D-6474-4263-9B99-5E9D155753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A2E46B-395F-44BB-A399-301BD8986F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EC16B2-A79F-4EF3-B109-260A8C965ED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032593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D59695-79A9-4446-91E3-05E7FE7A15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66FC54-E211-48A1-8BCA-378B4D4D3A7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325B42F-19A5-4F50-9CDF-42D673EB06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7F44E2-D9AA-43EA-B93A-EEC6CDC19CD5}" type="datetimeFigureOut">
              <a:rPr lang="en-IN" smtClean="0"/>
              <a:t>11-05-2026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AEB133-FF63-4CDE-83A1-44AF473A23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A2E08C-2449-4EE7-85C3-B82B566620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EC16B2-A79F-4EF3-B109-260A8C965ED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301206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7626C4-320A-4799-9AE2-8DDE1CA618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2DC3420-268D-4A73-990C-4BA3150862C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319061-FA9F-4CD9-8574-300E0E8997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7F44E2-D9AA-43EA-B93A-EEC6CDC19CD5}" type="datetimeFigureOut">
              <a:rPr lang="en-IN" smtClean="0"/>
              <a:t>11-05-2026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C8B69E-7D13-401E-BA52-560698F833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0F2BDD-5AC8-4AE3-8868-F8CC1DA764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EC16B2-A79F-4EF3-B109-260A8C965ED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286945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E219AC-BA64-4335-BA9B-DF3911CCE5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78DA36-87D1-4E4A-8D55-031DDA30864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05276BB-4B19-4B31-A15F-D171E88D889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8E846C6-E4EC-417D-8F33-F85084C30A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7F44E2-D9AA-43EA-B93A-EEC6CDC19CD5}" type="datetimeFigureOut">
              <a:rPr lang="en-IN" smtClean="0"/>
              <a:t>11-05-2026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EC9D499-DC6A-4178-AFA3-2E2D44FD32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DE19571-DCCE-45D8-8783-EA6DC03D8E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EC16B2-A79F-4EF3-B109-260A8C965ED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719390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878171-0F87-491D-955D-347FAE8D06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323EC69-5405-4A73-84BD-F54C9837DBE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0A1D5BF-B1AE-44F7-BF58-8E4B057CDDF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07E8175-A0D7-4248-A114-5AC9DF51165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4338F68-9ACA-4AC9-B3EC-D38E662B2A8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1F9F48F-32B7-4E62-920E-426CD4A43E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7F44E2-D9AA-43EA-B93A-EEC6CDC19CD5}" type="datetimeFigureOut">
              <a:rPr lang="en-IN" smtClean="0"/>
              <a:t>11-05-2026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F7049EB-BDFC-47EA-9692-76B7389433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9F573FA-F1A3-4137-8DF6-8477A299DA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EC16B2-A79F-4EF3-B109-260A8C965ED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765419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0EC694-79DB-4363-B1A5-15A50E69FF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4B602A-C477-4739-9033-AA90AEB955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7F44E2-D9AA-43EA-B93A-EEC6CDC19CD5}" type="datetimeFigureOut">
              <a:rPr lang="en-IN" smtClean="0"/>
              <a:t>11-05-2026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BE378F1-E22C-4E55-9DDB-BB46A0C14B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F5B7E4F-F4BD-47E4-8AF4-FE65D6600C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EC16B2-A79F-4EF3-B109-260A8C965ED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736878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9180C5E-189E-4B16-8B64-6164F629D5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7F44E2-D9AA-43EA-B93A-EEC6CDC19CD5}" type="datetimeFigureOut">
              <a:rPr lang="en-IN" smtClean="0"/>
              <a:t>11-05-2026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6B3E471-C627-4A6F-8940-20A4EE7AC0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9F3B9AE-03BF-4E26-AF08-84460AF45A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EC16B2-A79F-4EF3-B109-260A8C965ED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074987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665660-5922-4086-9079-F98C845BCC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8CA404-6545-4C37-A301-16A160A0078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4D04D32-44ED-4022-9B36-1EE734ED65C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938BFFD-8B76-47E2-B9FB-5194F01013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7F44E2-D9AA-43EA-B93A-EEC6CDC19CD5}" type="datetimeFigureOut">
              <a:rPr lang="en-IN" smtClean="0"/>
              <a:t>11-05-2026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ED40FA1-8D0A-4E4C-9953-054729FB87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DA9A4A1-B2D3-4598-9C16-19E3F974E0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EC16B2-A79F-4EF3-B109-260A8C965ED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035387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57357B-DBC0-436F-82C9-9BE7A6D463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5CAA78A-18AB-4BC5-BEFE-4D14122FCE8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776BB34-FC6B-48B7-88A4-726F5473541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9AB742C-BF4E-4140-8947-871247A335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7F44E2-D9AA-43EA-B93A-EEC6CDC19CD5}" type="datetimeFigureOut">
              <a:rPr lang="en-IN" smtClean="0"/>
              <a:t>11-05-2026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521326A-4386-47BF-8036-878141A473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085A690-66C4-49A2-AFF2-86E9646D82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EC16B2-A79F-4EF3-B109-260A8C965ED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726035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0FD690-141F-4B82-AAA6-311E8BB6E8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25DCD3E-D233-4229-9571-4585EFE5231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212A0F7-FDB1-43FF-A571-32B80EE101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7F44E2-D9AA-43EA-B93A-EEC6CDC19CD5}" type="datetimeFigureOut">
              <a:rPr lang="en-IN" smtClean="0"/>
              <a:t>11-05-2026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4B04E9-3520-49DA-836F-CFFB881FBD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EC8C8B-43E3-4E78-9BFA-28431143D9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EC16B2-A79F-4EF3-B109-260A8C965ED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945272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56DD375-6C7A-403C-8B36-D5D3CFCF0E9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9BF1880-F132-48C9-9D79-CA506843404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EB219E-CEFA-45B4-9588-67FAD5B86F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7F44E2-D9AA-43EA-B93A-EEC6CDC19CD5}" type="datetimeFigureOut">
              <a:rPr lang="en-IN" smtClean="0"/>
              <a:t>11-05-2026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014DA2-B751-43ED-834C-17F142F9ED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2DBFD0-8FFE-4F10-9A8D-DC32F22945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EC16B2-A79F-4EF3-B109-260A8C965ED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6728802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405405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5D61A3F-7420-4211-A9AF-443ACDC04E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8A53A93-B55A-4668-86F8-9483DF49D6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E196E0-46F1-4FF9-A486-7116F5016B0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7F44E2-D9AA-43EA-B93A-EEC6CDC19CD5}" type="datetimeFigureOut">
              <a:rPr lang="en-IN" smtClean="0"/>
              <a:t>11-05-2026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B0E07B5-C98B-47C4-829C-B640A6AEE91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9113DEB-9452-48C6-802D-EC521E6023C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4EC16B2-A79F-4EF3-B109-260A8C965ED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758188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9" name="Picture 98">
            <a:extLst>
              <a:ext uri="{FF2B5EF4-FFF2-40B4-BE49-F238E27FC236}">
                <a16:creationId xmlns:a16="http://schemas.microsoft.com/office/drawing/2014/main" id="{AA78BBCF-2634-4089-8492-D8569E905F67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000" b="90000" l="10000" r="90000"/>
                    </a14:imgEffect>
                  </a14:imgLayer>
                </a14:imgProps>
              </a:ext>
            </a:extLst>
          </a:blip>
          <a:srcRect l="35216" t="9860" r="35722" b="40504"/>
          <a:stretch/>
        </p:blipFill>
        <p:spPr>
          <a:xfrm>
            <a:off x="7372538" y="1619794"/>
            <a:ext cx="4421349" cy="5638238"/>
          </a:xfrm>
          <a:prstGeom prst="rect">
            <a:avLst/>
          </a:prstGeom>
        </p:spPr>
      </p:pic>
      <p:sp>
        <p:nvSpPr>
          <p:cNvPr id="75" name="TextBox 74">
            <a:extLst>
              <a:ext uri="{FF2B5EF4-FFF2-40B4-BE49-F238E27FC236}">
                <a16:creationId xmlns:a16="http://schemas.microsoft.com/office/drawing/2014/main" id="{966C81A6-8FBD-44BD-9DF5-A762864663F9}"/>
              </a:ext>
            </a:extLst>
          </p:cNvPr>
          <p:cNvSpPr txBox="1"/>
          <p:nvPr/>
        </p:nvSpPr>
        <p:spPr>
          <a:xfrm>
            <a:off x="0" y="604461"/>
            <a:ext cx="218258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b="1" dirty="0">
                <a:latin typeface="Berlin Sans FB Demi" panose="020E0802020502020306" pitchFamily="34" charset="0"/>
                <a:ea typeface="SamsungOne 800" panose="020B0903030303020204" pitchFamily="34" charset="0"/>
              </a:rPr>
              <a:t>CLASH OF THE</a:t>
            </a:r>
            <a:endParaRPr lang="en-US" sz="2000" b="1" dirty="0">
              <a:solidFill>
                <a:srgbClr val="E81B25"/>
              </a:solidFill>
              <a:latin typeface="Berlin Sans FB Demi" panose="020E0802020502020306" pitchFamily="34" charset="0"/>
              <a:ea typeface="SamsungOne 800" panose="020B0903030303020204" pitchFamily="34" charset="0"/>
            </a:endParaRP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52DB02A4-569F-4135-9840-A60286D3E03F}"/>
              </a:ext>
            </a:extLst>
          </p:cNvPr>
          <p:cNvSpPr txBox="1"/>
          <p:nvPr/>
        </p:nvSpPr>
        <p:spPr>
          <a:xfrm>
            <a:off x="1756232" y="436120"/>
            <a:ext cx="209116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600" b="1" dirty="0">
                <a:solidFill>
                  <a:srgbClr val="E81B25"/>
                </a:solidFill>
                <a:latin typeface="Berlin Sans FB Demi" panose="020E0802020502020306" pitchFamily="34" charset="0"/>
                <a:ea typeface="SamsungOne 800" panose="020B0903030303020204" pitchFamily="34" charset="0"/>
              </a:rPr>
              <a:t>CLAWS</a:t>
            </a:r>
            <a:endParaRPr lang="en-IN" sz="3600" dirty="0">
              <a:latin typeface="Berlin Sans FB Demi" panose="020E0802020502020306" pitchFamily="34" charset="0"/>
            </a:endParaRPr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DD060EA0-A6D1-484F-8987-38123CE63233}"/>
              </a:ext>
            </a:extLst>
          </p:cNvPr>
          <p:cNvSpPr txBox="1"/>
          <p:nvPr/>
        </p:nvSpPr>
        <p:spPr>
          <a:xfrm>
            <a:off x="137355" y="1722386"/>
            <a:ext cx="8269527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000" b="1" dirty="0">
                <a:solidFill>
                  <a:srgbClr val="E81B25"/>
                </a:solidFill>
                <a:latin typeface="Berlin Sans FB Demi" panose="020E0802020502020306" pitchFamily="34" charset="0"/>
              </a:rPr>
              <a:t>RVCE_ClawMentors</a:t>
            </a:r>
          </a:p>
          <a:p>
            <a:endParaRPr lang="en-US" sz="2000" b="1" dirty="0">
              <a:solidFill>
                <a:srgbClr val="E81B25"/>
              </a:solidFill>
              <a:latin typeface="Berlin Sans FB Demi" panose="020E0802020502020306" pitchFamily="34" charset="0"/>
            </a:endParaRPr>
          </a:p>
          <a:p>
            <a:r>
              <a:rPr lang="en-US" sz="3200" b="1" dirty="0">
                <a:solidFill>
                  <a:srgbClr val="E81B25"/>
                </a:solidFill>
                <a:latin typeface="Calibri" pitchFamily="34" charset="0"/>
              </a:rPr>
              <a:t>ClawMentor Bharat</a:t>
            </a:r>
          </a:p>
          <a:p>
            <a:r>
              <a:rPr lang="en-US" sz="2400" dirty="0">
                <a:solidFill>
                  <a:srgbClr val="333333"/>
                </a:solidFill>
                <a:latin typeface="Calibri" pitchFamily="34" charset="0"/>
              </a:rPr>
              <a:t>An OpenClaw-Powered Autonomous Career Intelligence Agent</a:t>
            </a:r>
          </a:p>
          <a:p>
            <a:r>
              <a:rPr lang="en-US" sz="2400" dirty="0">
                <a:solidFill>
                  <a:srgbClr val="333333"/>
                </a:solidFill>
                <a:latin typeface="Calibri" pitchFamily="34" charset="0"/>
              </a:rPr>
              <a:t>for Indian Engineering Students</a:t>
            </a:r>
          </a:p>
          <a:p>
            <a:endParaRPr lang="en-US" sz="2400" dirty="0">
              <a:solidFill>
                <a:srgbClr val="333333"/>
              </a:solidFill>
              <a:latin typeface="Calibri" pitchFamily="34" charset="0"/>
            </a:endParaRPr>
          </a:p>
          <a:p>
            <a:r>
              <a:rPr lang="en-US" sz="2400" b="1" dirty="0">
                <a:solidFill>
                  <a:schemeClr val="tx2"/>
                </a:solidFill>
                <a:latin typeface="Berlin Sans FB Demi" panose="020E0802020502020306" pitchFamily="34" charset="0"/>
              </a:rPr>
              <a:t>Sahana V S</a:t>
            </a:r>
          </a:p>
          <a:p>
            <a:r>
              <a:rPr lang="en-US" sz="2000" dirty="0">
                <a:solidFill>
                  <a:srgbClr val="555555"/>
                </a:solidFill>
                <a:latin typeface="Calibri" pitchFamily="34" charset="0"/>
              </a:rPr>
              <a:t>RV College of Engineering, Bengaluru</a:t>
            </a:r>
          </a:p>
          <a:p>
            <a:pPr algn="ctr"/>
            <a:br>
              <a:rPr lang="en-US" sz="4000" b="1" dirty="0">
                <a:solidFill>
                  <a:schemeClr val="tx2"/>
                </a:solidFill>
                <a:latin typeface="Berlin Sans FB Demi" panose="020E0802020502020306" pitchFamily="34" charset="0"/>
                <a:ea typeface="SamsungOne 800" panose="020B0903030303020204" pitchFamily="34" charset="0"/>
              </a:rPr>
            </a:br>
            <a:endParaRPr lang="en-US" sz="4000" b="1" dirty="0">
              <a:solidFill>
                <a:schemeClr val="tx2"/>
              </a:solidFill>
              <a:latin typeface="Berlin Sans FB Demi" panose="020E0802020502020306" pitchFamily="34" charset="0"/>
              <a:ea typeface="SamsungOne 800" panose="020B0903030303020204" pitchFamily="34" charset="0"/>
            </a:endParaRP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8263B24E-BBCD-4BAC-9AEF-81547E82C9E5}"/>
              </a:ext>
            </a:extLst>
          </p:cNvPr>
          <p:cNvGrpSpPr/>
          <p:nvPr/>
        </p:nvGrpSpPr>
        <p:grpSpPr>
          <a:xfrm>
            <a:off x="137355" y="46746"/>
            <a:ext cx="3814159" cy="639045"/>
            <a:chOff x="137355" y="133834"/>
            <a:chExt cx="3814159" cy="639045"/>
          </a:xfrm>
        </p:grpSpPr>
        <p:pic>
          <p:nvPicPr>
            <p:cNvPr id="21" name="Picture 20">
              <a:extLst>
                <a:ext uri="{FF2B5EF4-FFF2-40B4-BE49-F238E27FC236}">
                  <a16:creationId xmlns:a16="http://schemas.microsoft.com/office/drawing/2014/main" id="{3C9D2D8C-378C-4311-B59D-9891D5378E8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37355" y="133834"/>
              <a:ext cx="974396" cy="639045"/>
            </a:xfrm>
            <a:prstGeom prst="rect">
              <a:avLst/>
            </a:prstGeom>
          </p:spPr>
        </p:pic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5AA001E0-3B05-4E97-9F59-DA7472558885}"/>
                </a:ext>
              </a:extLst>
            </p:cNvPr>
            <p:cNvSpPr txBox="1"/>
            <p:nvPr/>
          </p:nvSpPr>
          <p:spPr>
            <a:xfrm>
              <a:off x="1017814" y="244337"/>
              <a:ext cx="293370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b="1" dirty="0">
                  <a:latin typeface="Berlin Sans FB Demi" panose="020E0802020502020306" pitchFamily="34" charset="0"/>
                  <a:ea typeface="SamsungOne 800" panose="020B0903030303020204" pitchFamily="34" charset="0"/>
                </a:rPr>
                <a:t>| Tech Management, SRI-B</a:t>
              </a:r>
              <a:endParaRPr lang="en-US" b="1" dirty="0">
                <a:solidFill>
                  <a:srgbClr val="E81B25"/>
                </a:solidFill>
                <a:latin typeface="Berlin Sans FB Demi" panose="020E0802020502020306" pitchFamily="34" charset="0"/>
                <a:ea typeface="SamsungOne 800" panose="020B0903030303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35473195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8534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609600" y="219456"/>
            <a:ext cx="195072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000" b="1" dirty="0">
                <a:solidFill>
                  <a:schemeClr val="bg1"/>
                </a:solidFill>
              </a:rPr>
              <a:t>Idea</a:t>
            </a:r>
            <a:endParaRPr lang="en-US" sz="1000" dirty="0">
              <a:solidFill>
                <a:schemeClr val="bg1"/>
              </a:solidFill>
            </a:endParaRPr>
          </a:p>
        </p:txBody>
      </p:sp>
      <p:sp>
        <p:nvSpPr>
          <p:cNvPr id="5" name="Text 3"/>
          <p:cNvSpPr/>
          <p:nvPr/>
        </p:nvSpPr>
        <p:spPr>
          <a:xfrm>
            <a:off x="609600" y="670560"/>
            <a:ext cx="10972800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4267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4267" dirty="0"/>
          </a:p>
        </p:txBody>
      </p:sp>
      <p:sp>
        <p:nvSpPr>
          <p:cNvPr id="18" name="Text 1">
            <a:extLst>
              <a:ext uri="{FF2B5EF4-FFF2-40B4-BE49-F238E27FC236}">
                <a16:creationId xmlns:a16="http://schemas.microsoft.com/office/drawing/2014/main" id="{B0488D4E-8E6D-456D-9B00-8A96881B3AC1}"/>
              </a:ext>
            </a:extLst>
          </p:cNvPr>
          <p:cNvSpPr/>
          <p:nvPr/>
        </p:nvSpPr>
        <p:spPr>
          <a:xfrm>
            <a:off x="5852160" y="1395928"/>
            <a:ext cx="5120640" cy="5486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endParaRPr lang="en-US" sz="26666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4DB0243-BB37-4E48-8F2A-F31495290DC7}"/>
              </a:ext>
            </a:extLst>
          </p:cNvPr>
          <p:cNvSpPr txBox="1"/>
          <p:nvPr/>
        </p:nvSpPr>
        <p:spPr>
          <a:xfrm>
            <a:off x="43059" y="1785257"/>
            <a:ext cx="6988629" cy="41242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0077A8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Theme: GenAI Research &amp; Sovereign Agent Paradigms</a:t>
            </a:r>
          </a:p>
          <a:p>
            <a:pPr algn="just"/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just"/>
            <a:r>
              <a:rPr lang="en-US" sz="2000" b="1" dirty="0">
                <a:solidFill>
                  <a:srgbClr val="22222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What Problem Are We Solving?</a:t>
            </a:r>
          </a:p>
          <a:p>
            <a:pPr algn="just"/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• Information Overload: Students juggle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LeetCode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LinkedIn, GitHub, placement portals with no unified plan</a:t>
            </a:r>
          </a:p>
          <a:p>
            <a:pPr algn="just"/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• Context-Blindness: Standard LLMs forget a student’s resume, goals, and progress across sessions</a:t>
            </a:r>
          </a:p>
          <a:p>
            <a:pPr algn="just"/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• No Proactivity: Tools only respond when prompted — they never reach out to the student</a:t>
            </a:r>
          </a:p>
          <a:p>
            <a:pPr algn="just"/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just"/>
            <a:r>
              <a:rPr lang="en-US" sz="2000" b="1" dirty="0">
                <a:solidFill>
                  <a:srgbClr val="22222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Why It Is Critical</a:t>
            </a:r>
          </a:p>
          <a:p>
            <a:pPr algn="just"/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Missing a single skill gap (Docker, LLM tuning) or a job posting can change a student’s career trajectory. Placement is hyper-competitive — students need a 24/7 intelligent companion, not just a search engine.</a:t>
            </a:r>
          </a:p>
        </p:txBody>
      </p:sp>
      <p:sp>
        <p:nvSpPr>
          <p:cNvPr id="7" name="PersonaCard">
            <a:extLst>
              <a:ext uri="{FF2B5EF4-FFF2-40B4-BE49-F238E27FC236}">
                <a16:creationId xmlns:a16="http://schemas.microsoft.com/office/drawing/2014/main" id="{CE76AE25-A053-3253-6800-01819B4D664F}"/>
              </a:ext>
            </a:extLst>
          </p:cNvPr>
          <p:cNvSpPr/>
          <p:nvPr/>
        </p:nvSpPr>
        <p:spPr>
          <a:xfrm>
            <a:off x="7100113" y="2249368"/>
            <a:ext cx="4918199" cy="2189718"/>
          </a:xfrm>
          <a:prstGeom prst="rect">
            <a:avLst/>
          </a:prstGeom>
          <a:solidFill>
            <a:srgbClr val="F0F9FF"/>
          </a:solidFill>
          <a:ln w="19050">
            <a:solidFill>
              <a:srgbClr val="00B4D8"/>
            </a:solidFill>
          </a:ln>
        </p:spPr>
        <p:txBody>
          <a:bodyPr wrap="square" lIns="228600" tIns="228600" rIns="228600" bIns="228600" rtlCol="0" anchor="t"/>
          <a:lstStyle/>
          <a:p>
            <a:pPr algn="ctr"/>
            <a:r>
              <a:rPr lang="en-US" b="1" dirty="0">
                <a:solidFill>
                  <a:srgbClr val="0077A8"/>
                </a:solidFill>
                <a:latin typeface="Calibri" pitchFamily="34" charset="0"/>
              </a:rPr>
              <a:t>🎓 Meet Aditya</a:t>
            </a:r>
          </a:p>
          <a:p>
            <a:pPr algn="ctr"/>
            <a:r>
              <a:rPr lang="en-US" sz="1100" b="0" i="1" dirty="0">
                <a:solidFill>
                  <a:srgbClr val="555555"/>
                </a:solidFill>
                <a:latin typeface="Calibri" pitchFamily="34" charset="0"/>
              </a:rPr>
              <a:t>3rd-year CS student, RVCE</a:t>
            </a:r>
          </a:p>
          <a:p>
            <a:endParaRPr lang="en-US" sz="1100" dirty="0"/>
          </a:p>
          <a:p>
            <a:r>
              <a:rPr lang="en-US" sz="1400" b="0" dirty="0">
                <a:latin typeface="Calibri" pitchFamily="34" charset="0"/>
              </a:rPr>
              <a:t>⚠ Has GitHub projects but no structured daily plan</a:t>
            </a:r>
          </a:p>
          <a:p>
            <a:r>
              <a:rPr lang="en-US" sz="1400" b="0" dirty="0">
                <a:latin typeface="Calibri" pitchFamily="34" charset="0"/>
              </a:rPr>
              <a:t>⚠ Misses key job postings because he checks manually</a:t>
            </a:r>
          </a:p>
          <a:p>
            <a:r>
              <a:rPr lang="en-US" sz="1400" b="0" dirty="0">
                <a:latin typeface="Calibri" pitchFamily="34" charset="0"/>
              </a:rPr>
              <a:t>⚠ Doesn’t know which technical gaps are holding him back</a:t>
            </a:r>
          </a:p>
          <a:p>
            <a:r>
              <a:rPr lang="en-US" sz="1400" b="0" dirty="0">
                <a:latin typeface="Calibri" pitchFamily="34" charset="0"/>
              </a:rPr>
              <a:t>⚠ No persistent AI mentor that remembers his progress</a:t>
            </a:r>
          </a:p>
          <a:p>
            <a:endParaRPr lang="en-US" sz="1400" dirty="0"/>
          </a:p>
          <a:p>
            <a:pPr algn="ctr"/>
            <a:r>
              <a:rPr lang="en-US" sz="1400" b="1" dirty="0">
                <a:solidFill>
                  <a:srgbClr val="E81B25"/>
                </a:solidFill>
                <a:latin typeface="Calibri" pitchFamily="34" charset="0"/>
              </a:rPr>
              <a:t>He needs a 24/7 autonomous career sentinel.</a:t>
            </a:r>
          </a:p>
        </p:txBody>
      </p:sp>
    </p:spTree>
    <p:extLst>
      <p:ext uri="{BB962C8B-B14F-4D97-AF65-F5344CB8AC3E}">
        <p14:creationId xmlns:p14="http://schemas.microsoft.com/office/powerpoint/2010/main" val="145180342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8534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609600" y="219456"/>
            <a:ext cx="195072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000" b="1" dirty="0">
                <a:solidFill>
                  <a:schemeClr val="bg1"/>
                </a:solidFill>
              </a:rPr>
              <a:t>Idea</a:t>
            </a:r>
            <a:endParaRPr lang="en-US" sz="1000" dirty="0">
              <a:solidFill>
                <a:schemeClr val="bg1"/>
              </a:solidFill>
            </a:endParaRPr>
          </a:p>
        </p:txBody>
      </p:sp>
      <p:sp>
        <p:nvSpPr>
          <p:cNvPr id="5" name="Text 3"/>
          <p:cNvSpPr/>
          <p:nvPr/>
        </p:nvSpPr>
        <p:spPr>
          <a:xfrm>
            <a:off x="609600" y="670560"/>
            <a:ext cx="10972800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4267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Current Solution &amp; Gaps</a:t>
            </a:r>
            <a:endParaRPr lang="en-US" sz="4267" dirty="0"/>
          </a:p>
        </p:txBody>
      </p:sp>
      <p:sp>
        <p:nvSpPr>
          <p:cNvPr id="18" name="Text 1">
            <a:extLst>
              <a:ext uri="{FF2B5EF4-FFF2-40B4-BE49-F238E27FC236}">
                <a16:creationId xmlns:a16="http://schemas.microsoft.com/office/drawing/2014/main" id="{B0488D4E-8E6D-456D-9B00-8A96881B3AC1}"/>
              </a:ext>
            </a:extLst>
          </p:cNvPr>
          <p:cNvSpPr/>
          <p:nvPr/>
        </p:nvSpPr>
        <p:spPr>
          <a:xfrm>
            <a:off x="5852160" y="1395928"/>
            <a:ext cx="5120640" cy="5486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endParaRPr lang="en-US" sz="26666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4DB0243-BB37-4E48-8F2A-F31495290DC7}"/>
              </a:ext>
            </a:extLst>
          </p:cNvPr>
          <p:cNvSpPr txBox="1"/>
          <p:nvPr/>
        </p:nvSpPr>
        <p:spPr>
          <a:xfrm>
            <a:off x="152668" y="1633728"/>
            <a:ext cx="6574703" cy="47089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0077A8"/>
                </a:solidFill>
                <a:latin typeface="Calibri" pitchFamily="34" charset="0"/>
              </a:rPr>
              <a:t>Existing Solutions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latin typeface="Calibri" pitchFamily="34" charset="0"/>
              </a:rPr>
              <a:t>Static Roadmaps (e.g. Roadmap.sh)</a:t>
            </a:r>
          </a:p>
          <a:p>
            <a:r>
              <a:rPr lang="en-US" dirty="0">
                <a:latin typeface="Calibri" pitchFamily="34" charset="0"/>
              </a:rPr>
              <a:t>        Generic guidelines, cannot adapt to a student’s actual resume or daily schedule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latin typeface="Calibri" pitchFamily="34" charset="0"/>
              </a:rPr>
              <a:t>Transactional AI Chats (ChatGPT / Gemini)</a:t>
            </a:r>
          </a:p>
          <a:p>
            <a:r>
              <a:rPr lang="en-US" dirty="0">
                <a:latin typeface="Calibri" pitchFamily="34" charset="0"/>
              </a:rPr>
              <a:t>        Forgets context immediately; student must copy-paste profile every session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latin typeface="Calibri" pitchFamily="34" charset="0"/>
              </a:rPr>
              <a:t>Commercial Portals (LinkedIn, </a:t>
            </a:r>
            <a:r>
              <a:rPr lang="en-US" b="1" dirty="0" err="1">
                <a:latin typeface="Calibri" pitchFamily="34" charset="0"/>
              </a:rPr>
              <a:t>Internshala</a:t>
            </a:r>
            <a:r>
              <a:rPr lang="en-US" b="1" dirty="0">
                <a:latin typeface="Calibri" pitchFamily="34" charset="0"/>
              </a:rPr>
              <a:t>)</a:t>
            </a:r>
          </a:p>
          <a:p>
            <a:r>
              <a:rPr lang="en-US" dirty="0">
                <a:latin typeface="Calibri" pitchFamily="34" charset="0"/>
              </a:rPr>
              <a:t>       Monetize student resumes; data sold to third parties</a:t>
            </a:r>
          </a:p>
          <a:p>
            <a:endParaRPr lang="en-US" dirty="0"/>
          </a:p>
          <a:p>
            <a:r>
              <a:rPr lang="en-US" sz="2400" b="1" dirty="0">
                <a:solidFill>
                  <a:srgbClr val="0077A8"/>
                </a:solidFill>
                <a:latin typeface="Calibri" pitchFamily="34" charset="0"/>
              </a:rPr>
              <a:t>What’s Missing / Broken</a:t>
            </a:r>
          </a:p>
          <a:p>
            <a:r>
              <a:rPr lang="en-US" dirty="0">
                <a:latin typeface="Calibri" pitchFamily="34" charset="0"/>
              </a:rPr>
              <a:t>• Zero Proactivity — tools only answer when spoken to; never send reminders</a:t>
            </a:r>
          </a:p>
          <a:p>
            <a:r>
              <a:rPr lang="en-US" dirty="0">
                <a:latin typeface="Calibri" pitchFamily="34" charset="0"/>
              </a:rPr>
              <a:t>• No Durable State — no living ROADMAP.md that auto-updates after resume changes</a:t>
            </a:r>
          </a:p>
          <a:p>
            <a:r>
              <a:rPr lang="en-US" dirty="0">
                <a:latin typeface="Calibri" pitchFamily="34" charset="0"/>
              </a:rPr>
              <a:t>• Privacy Leakage — student resume data uploaded to public clouds</a:t>
            </a:r>
          </a:p>
        </p:txBody>
      </p:sp>
      <p:sp>
        <p:nvSpPr>
          <p:cNvPr id="7" name="Opportunity">
            <a:extLst>
              <a:ext uri="{FF2B5EF4-FFF2-40B4-BE49-F238E27FC236}">
                <a16:creationId xmlns:a16="http://schemas.microsoft.com/office/drawing/2014/main" id="{DDD2484F-E7AC-063D-A53A-92D20567E644}"/>
              </a:ext>
            </a:extLst>
          </p:cNvPr>
          <p:cNvSpPr/>
          <p:nvPr/>
        </p:nvSpPr>
        <p:spPr>
          <a:xfrm>
            <a:off x="6878350" y="1913576"/>
            <a:ext cx="5288768" cy="2817043"/>
          </a:xfrm>
          <a:prstGeom prst="rect">
            <a:avLst/>
          </a:prstGeom>
          <a:solidFill>
            <a:srgbClr val="FFF3F3"/>
          </a:solidFill>
          <a:ln w="19050">
            <a:solidFill>
              <a:srgbClr val="E81B25"/>
            </a:solidFill>
          </a:ln>
        </p:spPr>
        <p:txBody>
          <a:bodyPr wrap="square" lIns="228600" tIns="228600" rIns="228600" bIns="228600" rtlCol="0" anchor="t"/>
          <a:lstStyle/>
          <a:p>
            <a:pPr algn="ctr"/>
            <a:r>
              <a:rPr lang="en-US" b="1" dirty="0">
                <a:solidFill>
                  <a:srgbClr val="E81B25"/>
                </a:solidFill>
                <a:latin typeface="Calibri" pitchFamily="34" charset="0"/>
              </a:rPr>
              <a:t>🎯 The Opportunity</a:t>
            </a:r>
          </a:p>
          <a:p>
            <a:endParaRPr lang="en-US" sz="1400" dirty="0"/>
          </a:p>
          <a:p>
            <a:r>
              <a:rPr lang="en-US" sz="1400" b="0" dirty="0">
                <a:latin typeface="Calibri" pitchFamily="34" charset="0"/>
              </a:rPr>
              <a:t>Build a Sovereign AI Agent using OpenClaw’s durable local memory architecture to:</a:t>
            </a:r>
          </a:p>
          <a:p>
            <a:endParaRPr lang="en-US" sz="1400" dirty="0"/>
          </a:p>
          <a:p>
            <a:r>
              <a:rPr lang="en-US" sz="1400" b="0" dirty="0">
                <a:latin typeface="Calibri" pitchFamily="34" charset="0"/>
              </a:rPr>
              <a:t>✅ Keep ALL student data private &amp; local (no public cloud)</a:t>
            </a:r>
          </a:p>
          <a:p>
            <a:r>
              <a:rPr lang="en-US" sz="1400" b="0" dirty="0">
                <a:latin typeface="Calibri" pitchFamily="34" charset="0"/>
              </a:rPr>
              <a:t>✅ Maintain a living career ROADMAP that auto-updates</a:t>
            </a:r>
          </a:p>
          <a:p>
            <a:r>
              <a:rPr lang="en-US" sz="1400" b="0" dirty="0">
                <a:latin typeface="Calibri" pitchFamily="34" charset="0"/>
              </a:rPr>
              <a:t>✅ Proactively push personalized study plans to mobile</a:t>
            </a:r>
          </a:p>
          <a:p>
            <a:r>
              <a:rPr lang="en-US" sz="1400" b="0" dirty="0">
                <a:latin typeface="Calibri" pitchFamily="34" charset="0"/>
              </a:rPr>
              <a:t>✅ Offload AI inference to Groq API for sub-second speed</a:t>
            </a:r>
          </a:p>
          <a:p>
            <a:endParaRPr lang="en-US" sz="1400" dirty="0"/>
          </a:p>
          <a:p>
            <a:r>
              <a:rPr lang="en-US" sz="1600" b="1" i="1" dirty="0">
                <a:solidFill>
                  <a:srgbClr val="555555"/>
                </a:solidFill>
                <a:latin typeface="Calibri" pitchFamily="34" charset="0"/>
              </a:rPr>
              <a:t>ClawMentor Bharat fills this gap entirely.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8534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609600" y="219456"/>
            <a:ext cx="195072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000" b="1" dirty="0">
                <a:solidFill>
                  <a:schemeClr val="bg1"/>
                </a:solidFill>
              </a:rPr>
              <a:t>Idea</a:t>
            </a:r>
            <a:endParaRPr lang="en-US" sz="1000" dirty="0">
              <a:solidFill>
                <a:schemeClr val="bg1"/>
              </a:solidFill>
            </a:endParaRPr>
          </a:p>
        </p:txBody>
      </p:sp>
      <p:sp>
        <p:nvSpPr>
          <p:cNvPr id="5" name="Text 3"/>
          <p:cNvSpPr/>
          <p:nvPr/>
        </p:nvSpPr>
        <p:spPr>
          <a:xfrm>
            <a:off x="609600" y="670560"/>
            <a:ext cx="10972800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4267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Our Solutions</a:t>
            </a:r>
            <a:endParaRPr lang="en-US" sz="4267" dirty="0"/>
          </a:p>
        </p:txBody>
      </p:sp>
      <p:sp>
        <p:nvSpPr>
          <p:cNvPr id="18" name="Text 1">
            <a:extLst>
              <a:ext uri="{FF2B5EF4-FFF2-40B4-BE49-F238E27FC236}">
                <a16:creationId xmlns:a16="http://schemas.microsoft.com/office/drawing/2014/main" id="{B0488D4E-8E6D-456D-9B00-8A96881B3AC1}"/>
              </a:ext>
            </a:extLst>
          </p:cNvPr>
          <p:cNvSpPr/>
          <p:nvPr/>
        </p:nvSpPr>
        <p:spPr>
          <a:xfrm>
            <a:off x="5852160" y="1395928"/>
            <a:ext cx="5120640" cy="5486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endParaRPr lang="en-US" sz="26666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54A632F-E2F6-DC4A-AD61-5DB9BCB322BD}"/>
              </a:ext>
            </a:extLst>
          </p:cNvPr>
          <p:cNvSpPr txBox="1"/>
          <p:nvPr/>
        </p:nvSpPr>
        <p:spPr>
          <a:xfrm>
            <a:off x="609600" y="1620000"/>
            <a:ext cx="11062996" cy="609600"/>
          </a:xfrm>
          <a:prstGeom prst="rect">
            <a:avLst/>
          </a:prstGeom>
          <a:solidFill>
            <a:srgbClr val="E8F7FB"/>
          </a:solidFill>
        </p:spPr>
        <p:txBody>
          <a:bodyPr wrap="square" lIns="228600" tIns="114300" rIns="228600" bIns="114300" rtlCol="0" anchor="ctr"/>
          <a:lstStyle/>
          <a:p>
            <a:r>
              <a:rPr lang="en-US" sz="1500" b="1" dirty="0">
                <a:solidFill>
                  <a:srgbClr val="0077A8"/>
                </a:solidFill>
                <a:latin typeface="Calibri" pitchFamily="34" charset="0"/>
              </a:rPr>
              <a:t>ClawMentor Bharat: </a:t>
            </a:r>
            <a:r>
              <a:rPr lang="en-US" sz="1500" b="0" dirty="0">
                <a:latin typeface="Calibri" pitchFamily="34" charset="0"/>
              </a:rPr>
              <a:t>An autonomous Docker-containerized OpenClaw agent — parsing resumes, updating a living roadmap, and pushing micro-lessons directly to your mobile via Telegram &amp; WhatsApp.</a:t>
            </a:r>
          </a:p>
        </p:txBody>
      </p:sp>
      <p:sp>
        <p:nvSpPr>
          <p:cNvPr id="7" name="Feature1">
            <a:extLst>
              <a:ext uri="{FF2B5EF4-FFF2-40B4-BE49-F238E27FC236}">
                <a16:creationId xmlns:a16="http://schemas.microsoft.com/office/drawing/2014/main" id="{EBD161ED-9648-9426-C5DD-1056A7B9E57D}"/>
              </a:ext>
            </a:extLst>
          </p:cNvPr>
          <p:cNvSpPr/>
          <p:nvPr/>
        </p:nvSpPr>
        <p:spPr>
          <a:xfrm>
            <a:off x="609600" y="2364639"/>
            <a:ext cx="11062996" cy="894514"/>
          </a:xfrm>
          <a:prstGeom prst="rect">
            <a:avLst/>
          </a:prstGeom>
          <a:noFill/>
          <a:ln w="19050">
            <a:noFill/>
          </a:ln>
        </p:spPr>
        <p:txBody>
          <a:bodyPr wrap="square" lIns="228600" tIns="152400" rIns="228600" bIns="152400" rtlCol="0" anchor="t"/>
          <a:lstStyle/>
          <a:p>
            <a:pPr algn="just"/>
            <a:r>
              <a:rPr lang="en-US" b="1" dirty="0">
                <a:solidFill>
                  <a:srgbClr val="0077A8"/>
                </a:solidFill>
                <a:latin typeface="Calibri" pitchFamily="34" charset="0"/>
              </a:rPr>
              <a:t>📄 Resume Gap Analyzer</a:t>
            </a:r>
          </a:p>
          <a:p>
            <a:pPr algn="just"/>
            <a:r>
              <a:rPr lang="en-US" sz="1600" b="0" dirty="0">
                <a:latin typeface="Calibri" pitchFamily="34" charset="0"/>
              </a:rPr>
              <a:t>PyMuPDF extracts PDF text locally. Groq API (Llama 3) identifies missing skills and appends gaps directly to ROADMAP.md — all in under 1.2 seconds.</a:t>
            </a:r>
          </a:p>
        </p:txBody>
      </p:sp>
      <p:sp>
        <p:nvSpPr>
          <p:cNvPr id="8" name="Feature3">
            <a:extLst>
              <a:ext uri="{FF2B5EF4-FFF2-40B4-BE49-F238E27FC236}">
                <a16:creationId xmlns:a16="http://schemas.microsoft.com/office/drawing/2014/main" id="{351BE345-BCED-6C30-BD99-2E36E92FDEC6}"/>
              </a:ext>
            </a:extLst>
          </p:cNvPr>
          <p:cNvSpPr/>
          <p:nvPr/>
        </p:nvSpPr>
        <p:spPr>
          <a:xfrm>
            <a:off x="609600" y="4398852"/>
            <a:ext cx="10972800" cy="894514"/>
          </a:xfrm>
          <a:prstGeom prst="rect">
            <a:avLst/>
          </a:prstGeom>
          <a:noFill/>
          <a:ln w="19050">
            <a:noFill/>
          </a:ln>
        </p:spPr>
        <p:txBody>
          <a:bodyPr wrap="square" lIns="228600" tIns="152400" rIns="228600" bIns="152400" rtlCol="0" anchor="t"/>
          <a:lstStyle/>
          <a:p>
            <a:pPr algn="just"/>
            <a:r>
              <a:rPr lang="en-US" b="1" dirty="0">
                <a:solidFill>
                  <a:srgbClr val="E81B25"/>
                </a:solidFill>
                <a:latin typeface="Calibri" pitchFamily="34" charset="0"/>
              </a:rPr>
              <a:t>📱 </a:t>
            </a:r>
            <a:r>
              <a:rPr lang="en-US" b="1" dirty="0">
                <a:solidFill>
                  <a:schemeClr val="accent5">
                    <a:lumMod val="75000"/>
                  </a:schemeClr>
                </a:solidFill>
                <a:latin typeface="Calibri" pitchFamily="34" charset="0"/>
              </a:rPr>
              <a:t>Multi-Channel Push Delivery</a:t>
            </a:r>
          </a:p>
          <a:p>
            <a:pPr algn="just"/>
            <a:r>
              <a:rPr lang="en-US" sz="1600" b="0" dirty="0">
                <a:latin typeface="Calibri" pitchFamily="34" charset="0"/>
              </a:rPr>
              <a:t>Telegram Bot API + Twilio WhatsApp actively push personalized learning prompts — no login needed, messages arrive instantly.</a:t>
            </a:r>
          </a:p>
        </p:txBody>
      </p:sp>
      <p:sp>
        <p:nvSpPr>
          <p:cNvPr id="11" name="Feature2">
            <a:extLst>
              <a:ext uri="{FF2B5EF4-FFF2-40B4-BE49-F238E27FC236}">
                <a16:creationId xmlns:a16="http://schemas.microsoft.com/office/drawing/2014/main" id="{3CEBC502-4673-1031-D75D-404B3B6941DF}"/>
              </a:ext>
            </a:extLst>
          </p:cNvPr>
          <p:cNvSpPr/>
          <p:nvPr/>
        </p:nvSpPr>
        <p:spPr>
          <a:xfrm>
            <a:off x="609600" y="3379529"/>
            <a:ext cx="10972800" cy="894514"/>
          </a:xfrm>
          <a:prstGeom prst="rect">
            <a:avLst/>
          </a:prstGeom>
          <a:noFill/>
          <a:ln w="19050">
            <a:noFill/>
          </a:ln>
        </p:spPr>
        <p:txBody>
          <a:bodyPr wrap="square" lIns="228600" tIns="152400" rIns="228600" bIns="152400" rtlCol="0" anchor="t"/>
          <a:lstStyle/>
          <a:p>
            <a:pPr algn="just"/>
            <a:r>
              <a:rPr lang="en-US" b="1" dirty="0">
                <a:solidFill>
                  <a:srgbClr val="0077A8"/>
                </a:solidFill>
                <a:latin typeface="Calibri" pitchFamily="34" charset="0"/>
              </a:rPr>
              <a:t>📅 Daily Learning Planner</a:t>
            </a:r>
          </a:p>
          <a:p>
            <a:pPr algn="just"/>
            <a:r>
              <a:rPr lang="en-US" sz="1600" b="0" dirty="0">
                <a:latin typeface="Calibri" pitchFamily="34" charset="0"/>
              </a:rPr>
              <a:t>Reads ROADMAP.md gaps and available hours, generates structured time-blocked study schedules pushed to the student’s device daily.</a:t>
            </a:r>
          </a:p>
        </p:txBody>
      </p:sp>
      <p:sp>
        <p:nvSpPr>
          <p:cNvPr id="12" name="Feature4">
            <a:extLst>
              <a:ext uri="{FF2B5EF4-FFF2-40B4-BE49-F238E27FC236}">
                <a16:creationId xmlns:a16="http://schemas.microsoft.com/office/drawing/2014/main" id="{9143A693-1208-951E-0E5A-5A8375950862}"/>
              </a:ext>
            </a:extLst>
          </p:cNvPr>
          <p:cNvSpPr/>
          <p:nvPr/>
        </p:nvSpPr>
        <p:spPr>
          <a:xfrm>
            <a:off x="609599" y="5314159"/>
            <a:ext cx="10972799" cy="894514"/>
          </a:xfrm>
          <a:prstGeom prst="rect">
            <a:avLst/>
          </a:prstGeom>
          <a:noFill/>
          <a:ln w="19050">
            <a:noFill/>
          </a:ln>
        </p:spPr>
        <p:txBody>
          <a:bodyPr wrap="square" lIns="228600" tIns="152400" rIns="228600" bIns="152400" rtlCol="0" anchor="t"/>
          <a:lstStyle/>
          <a:p>
            <a:pPr algn="just"/>
            <a:r>
              <a:rPr lang="en-US" b="1" dirty="0">
                <a:solidFill>
                  <a:schemeClr val="accent5">
                    <a:lumMod val="75000"/>
                  </a:schemeClr>
                </a:solidFill>
                <a:latin typeface="Calibri" pitchFamily="34" charset="0"/>
              </a:rPr>
              <a:t>🧠 Durable Core Memory</a:t>
            </a:r>
          </a:p>
          <a:p>
            <a:pPr algn="just"/>
            <a:r>
              <a:rPr lang="en-US" sz="1600" b="0" dirty="0">
                <a:latin typeface="Calibri" pitchFamily="34" charset="0"/>
              </a:rPr>
              <a:t>SOUL.md, USER.md, ROADMAP.md, HEARTBEAT.md — local Markdown files that persist student progress forever, with zero cloud leakage.</a:t>
            </a:r>
          </a:p>
        </p:txBody>
      </p:sp>
    </p:spTree>
    <p:extLst>
      <p:ext uri="{BB962C8B-B14F-4D97-AF65-F5344CB8AC3E}">
        <p14:creationId xmlns:p14="http://schemas.microsoft.com/office/powerpoint/2010/main" val="100525891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8534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609600" y="219456"/>
            <a:ext cx="195072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000" b="1" dirty="0">
                <a:solidFill>
                  <a:schemeClr val="bg1"/>
                </a:solidFill>
              </a:rPr>
              <a:t>Idea</a:t>
            </a:r>
            <a:endParaRPr lang="en-US" sz="1000" dirty="0">
              <a:solidFill>
                <a:schemeClr val="bg1"/>
              </a:solidFill>
            </a:endParaRPr>
          </a:p>
        </p:txBody>
      </p:sp>
      <p:sp>
        <p:nvSpPr>
          <p:cNvPr id="5" name="Text 3"/>
          <p:cNvSpPr/>
          <p:nvPr/>
        </p:nvSpPr>
        <p:spPr>
          <a:xfrm>
            <a:off x="609600" y="670560"/>
            <a:ext cx="10972800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4267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Demo/Product Walkthrough</a:t>
            </a:r>
            <a:endParaRPr lang="en-US" sz="4267" dirty="0"/>
          </a:p>
        </p:txBody>
      </p:sp>
      <p:sp>
        <p:nvSpPr>
          <p:cNvPr id="18" name="Text 1">
            <a:extLst>
              <a:ext uri="{FF2B5EF4-FFF2-40B4-BE49-F238E27FC236}">
                <a16:creationId xmlns:a16="http://schemas.microsoft.com/office/drawing/2014/main" id="{B0488D4E-8E6D-456D-9B00-8A96881B3AC1}"/>
              </a:ext>
            </a:extLst>
          </p:cNvPr>
          <p:cNvSpPr/>
          <p:nvPr/>
        </p:nvSpPr>
        <p:spPr>
          <a:xfrm>
            <a:off x="5852160" y="1395928"/>
            <a:ext cx="5120640" cy="5486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endParaRPr lang="en-US" sz="26666" dirty="0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314F04E6-3468-488A-42E4-C2B4E519C0C9}"/>
              </a:ext>
            </a:extLst>
          </p:cNvPr>
          <p:cNvGrpSpPr/>
          <p:nvPr/>
        </p:nvGrpSpPr>
        <p:grpSpPr>
          <a:xfrm>
            <a:off x="457200" y="1699999"/>
            <a:ext cx="11544000" cy="3459830"/>
            <a:chOff x="457200" y="1699999"/>
            <a:chExt cx="11544000" cy="3459830"/>
          </a:xfrm>
        </p:grpSpPr>
        <p:sp>
          <p:nvSpPr>
            <p:cNvPr id="7" name="Step1bg">
              <a:extLst>
                <a:ext uri="{FF2B5EF4-FFF2-40B4-BE49-F238E27FC236}">
                  <a16:creationId xmlns:a16="http://schemas.microsoft.com/office/drawing/2014/main" id="{7C8F080F-AB7E-76E9-26F4-D41661ECA8DD}"/>
                </a:ext>
              </a:extLst>
            </p:cNvPr>
            <p:cNvSpPr/>
            <p:nvPr/>
          </p:nvSpPr>
          <p:spPr>
            <a:xfrm>
              <a:off x="457200" y="1700000"/>
              <a:ext cx="2400000" cy="3459828"/>
            </a:xfrm>
            <a:prstGeom prst="rect">
              <a:avLst/>
            </a:prstGeom>
            <a:solidFill>
              <a:srgbClr val="0077A8"/>
            </a:solidFill>
          </p:spPr>
          <p:txBody>
            <a:bodyPr wrap="square" lIns="228600" tIns="152400" rIns="228600" bIns="152400" rtlCol="0" anchor="t"/>
            <a:lstStyle/>
            <a:p>
              <a:pPr algn="ctr"/>
              <a:r>
                <a:rPr lang="en-US" sz="4800" b="1" dirty="0">
                  <a:solidFill>
                    <a:schemeClr val="bg1"/>
                  </a:solidFill>
                  <a:latin typeface="Calibri" pitchFamily="34" charset="0"/>
                </a:rPr>
                <a:t>1</a:t>
              </a:r>
            </a:p>
            <a:p>
              <a:pPr algn="ctr"/>
              <a:r>
                <a:rPr lang="en-US" sz="2400" b="1" dirty="0">
                  <a:solidFill>
                    <a:schemeClr val="bg1"/>
                  </a:solidFill>
                  <a:latin typeface="Calibri" pitchFamily="34" charset="0"/>
                </a:rPr>
                <a:t>Onboard</a:t>
              </a:r>
            </a:p>
            <a:p>
              <a:endParaRPr lang="en-US" sz="2000" dirty="0"/>
            </a:p>
            <a:p>
              <a:r>
                <a:rPr lang="en-US" sz="1600" b="0" dirty="0">
                  <a:solidFill>
                    <a:schemeClr val="bg1"/>
                  </a:solidFill>
                  <a:latin typeface="Calibri" pitchFamily="34" charset="0"/>
                </a:rPr>
                <a:t>Student sets up USER.md profile locally. Resume PDF placed in watch folder.</a:t>
              </a:r>
            </a:p>
          </p:txBody>
        </p:sp>
        <p:sp>
          <p:nvSpPr>
            <p:cNvPr id="8" name="Arrow1">
              <a:extLst>
                <a:ext uri="{FF2B5EF4-FFF2-40B4-BE49-F238E27FC236}">
                  <a16:creationId xmlns:a16="http://schemas.microsoft.com/office/drawing/2014/main" id="{4A8C5546-1A34-0607-95B7-6AD01AF53DDE}"/>
                </a:ext>
              </a:extLst>
            </p:cNvPr>
            <p:cNvSpPr/>
            <p:nvPr/>
          </p:nvSpPr>
          <p:spPr>
            <a:xfrm>
              <a:off x="2980000" y="2900000"/>
              <a:ext cx="457200" cy="457200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algn="ctr"/>
              <a:r>
                <a:rPr lang="en-US" sz="4400" b="1" dirty="0">
                  <a:solidFill>
                    <a:srgbClr val="0077A8"/>
                  </a:solidFill>
                </a:rPr>
                <a:t>➡</a:t>
              </a:r>
            </a:p>
          </p:txBody>
        </p:sp>
        <p:sp>
          <p:nvSpPr>
            <p:cNvPr id="11" name="Step2bg">
              <a:extLst>
                <a:ext uri="{FF2B5EF4-FFF2-40B4-BE49-F238E27FC236}">
                  <a16:creationId xmlns:a16="http://schemas.microsoft.com/office/drawing/2014/main" id="{E6B384E7-EC28-05DC-B18B-2EA1A79485F0}"/>
                </a:ext>
              </a:extLst>
            </p:cNvPr>
            <p:cNvSpPr/>
            <p:nvPr/>
          </p:nvSpPr>
          <p:spPr>
            <a:xfrm>
              <a:off x="3505200" y="1699999"/>
              <a:ext cx="2400000" cy="3459830"/>
            </a:xfrm>
            <a:prstGeom prst="rect">
              <a:avLst/>
            </a:prstGeom>
            <a:solidFill>
              <a:srgbClr val="00B4D8"/>
            </a:solidFill>
          </p:spPr>
          <p:txBody>
            <a:bodyPr wrap="square" lIns="228600" tIns="152400" rIns="228600" bIns="152400" rtlCol="0" anchor="t"/>
            <a:lstStyle/>
            <a:p>
              <a:pPr algn="ctr"/>
              <a:r>
                <a:rPr lang="en-US" sz="4800" b="1" dirty="0">
                  <a:solidFill>
                    <a:schemeClr val="bg1"/>
                  </a:solidFill>
                  <a:latin typeface="Calibri" pitchFamily="34" charset="0"/>
                </a:rPr>
                <a:t>2</a:t>
              </a:r>
            </a:p>
            <a:p>
              <a:pPr algn="ctr"/>
              <a:r>
                <a:rPr lang="en-US" sz="2400" b="1" dirty="0">
                  <a:solidFill>
                    <a:schemeClr val="bg1"/>
                  </a:solidFill>
                  <a:latin typeface="Calibri" pitchFamily="34" charset="0"/>
                </a:rPr>
                <a:t>Parse &amp; Analyze</a:t>
              </a:r>
            </a:p>
            <a:p>
              <a:endParaRPr lang="en-US" sz="2000" dirty="0"/>
            </a:p>
            <a:p>
              <a:r>
                <a:rPr lang="en-US" sz="1600" b="0" dirty="0">
                  <a:solidFill>
                    <a:schemeClr val="bg1"/>
                  </a:solidFill>
                  <a:latin typeface="Calibri" pitchFamily="34" charset="0"/>
                </a:rPr>
                <a:t>PyMuPDF extracts text. Groq API (Llama 3) detects missing skills vs target role. Latency: &lt;1.2s.</a:t>
              </a:r>
            </a:p>
          </p:txBody>
        </p:sp>
        <p:sp>
          <p:nvSpPr>
            <p:cNvPr id="12" name="Arrow2">
              <a:extLst>
                <a:ext uri="{FF2B5EF4-FFF2-40B4-BE49-F238E27FC236}">
                  <a16:creationId xmlns:a16="http://schemas.microsoft.com/office/drawing/2014/main" id="{F377833E-4159-42B7-26F8-3646742B06C3}"/>
                </a:ext>
              </a:extLst>
            </p:cNvPr>
            <p:cNvSpPr/>
            <p:nvPr/>
          </p:nvSpPr>
          <p:spPr>
            <a:xfrm>
              <a:off x="6025200" y="2900000"/>
              <a:ext cx="457200" cy="457200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algn="ctr"/>
              <a:r>
                <a:rPr lang="en-US" sz="4400" b="1" dirty="0">
                  <a:solidFill>
                    <a:srgbClr val="0077A8"/>
                  </a:solidFill>
                </a:rPr>
                <a:t>➡</a:t>
              </a:r>
            </a:p>
          </p:txBody>
        </p:sp>
        <p:sp>
          <p:nvSpPr>
            <p:cNvPr id="13" name="Step3bg">
              <a:extLst>
                <a:ext uri="{FF2B5EF4-FFF2-40B4-BE49-F238E27FC236}">
                  <a16:creationId xmlns:a16="http://schemas.microsoft.com/office/drawing/2014/main" id="{AE519E5B-BDFA-5004-937C-AE03009E62A1}"/>
                </a:ext>
              </a:extLst>
            </p:cNvPr>
            <p:cNvSpPr/>
            <p:nvPr/>
          </p:nvSpPr>
          <p:spPr>
            <a:xfrm>
              <a:off x="6553200" y="1699999"/>
              <a:ext cx="2400000" cy="3459829"/>
            </a:xfrm>
            <a:prstGeom prst="rect">
              <a:avLst/>
            </a:prstGeom>
            <a:solidFill>
              <a:srgbClr val="E81B25"/>
            </a:solidFill>
          </p:spPr>
          <p:txBody>
            <a:bodyPr wrap="square" lIns="228600" tIns="152400" rIns="228600" bIns="152400" rtlCol="0" anchor="t"/>
            <a:lstStyle/>
            <a:p>
              <a:pPr algn="ctr"/>
              <a:r>
                <a:rPr lang="en-US" sz="4800" b="1" dirty="0">
                  <a:solidFill>
                    <a:schemeClr val="bg1"/>
                  </a:solidFill>
                  <a:latin typeface="Calibri" pitchFamily="34" charset="0"/>
                </a:rPr>
                <a:t>3</a:t>
              </a:r>
            </a:p>
            <a:p>
              <a:pPr algn="ctr"/>
              <a:r>
                <a:rPr lang="en-US" sz="2400" b="1" dirty="0">
                  <a:solidFill>
                    <a:schemeClr val="bg1"/>
                  </a:solidFill>
                  <a:latin typeface="Calibri" pitchFamily="34" charset="0"/>
                </a:rPr>
                <a:t>Sync Memory</a:t>
              </a:r>
            </a:p>
            <a:p>
              <a:endParaRPr lang="en-US" sz="2000" dirty="0"/>
            </a:p>
            <a:p>
              <a:r>
                <a:rPr lang="en-US" sz="1600" b="0" dirty="0">
                  <a:solidFill>
                    <a:schemeClr val="bg1"/>
                  </a:solidFill>
                  <a:latin typeface="Calibri" pitchFamily="34" charset="0"/>
                </a:rPr>
                <a:t>Gaps instantly appended to local ROADMAP.md. HEARTBEAT.md scheduler wakes the agent.</a:t>
              </a:r>
            </a:p>
          </p:txBody>
        </p:sp>
        <p:sp>
          <p:nvSpPr>
            <p:cNvPr id="14" name="Arrow3">
              <a:extLst>
                <a:ext uri="{FF2B5EF4-FFF2-40B4-BE49-F238E27FC236}">
                  <a16:creationId xmlns:a16="http://schemas.microsoft.com/office/drawing/2014/main" id="{1CF8572E-D3D3-BDAD-7B9C-C58A961D9B19}"/>
                </a:ext>
              </a:extLst>
            </p:cNvPr>
            <p:cNvSpPr/>
            <p:nvPr/>
          </p:nvSpPr>
          <p:spPr>
            <a:xfrm>
              <a:off x="9073200" y="2900000"/>
              <a:ext cx="457200" cy="457200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algn="ctr"/>
              <a:r>
                <a:rPr lang="en-US" sz="4400" b="1" dirty="0">
                  <a:solidFill>
                    <a:srgbClr val="0077A8"/>
                  </a:solidFill>
                </a:rPr>
                <a:t>➡</a:t>
              </a:r>
            </a:p>
          </p:txBody>
        </p:sp>
        <p:sp>
          <p:nvSpPr>
            <p:cNvPr id="15" name="Step4bg">
              <a:extLst>
                <a:ext uri="{FF2B5EF4-FFF2-40B4-BE49-F238E27FC236}">
                  <a16:creationId xmlns:a16="http://schemas.microsoft.com/office/drawing/2014/main" id="{B798097E-6AA2-9923-28D7-55A673265945}"/>
                </a:ext>
              </a:extLst>
            </p:cNvPr>
            <p:cNvSpPr/>
            <p:nvPr/>
          </p:nvSpPr>
          <p:spPr>
            <a:xfrm>
              <a:off x="9601200" y="1700000"/>
              <a:ext cx="2400000" cy="3459828"/>
            </a:xfrm>
            <a:prstGeom prst="rect">
              <a:avLst/>
            </a:prstGeom>
            <a:solidFill>
              <a:srgbClr val="1C7A1C"/>
            </a:solidFill>
          </p:spPr>
          <p:txBody>
            <a:bodyPr wrap="square" lIns="228600" tIns="152400" rIns="228600" bIns="152400" rtlCol="0" anchor="t"/>
            <a:lstStyle/>
            <a:p>
              <a:pPr algn="ctr"/>
              <a:r>
                <a:rPr lang="en-US" sz="4800" b="1" dirty="0">
                  <a:solidFill>
                    <a:schemeClr val="bg1"/>
                  </a:solidFill>
                  <a:latin typeface="Calibri" pitchFamily="34" charset="0"/>
                </a:rPr>
                <a:t>4</a:t>
              </a:r>
            </a:p>
            <a:p>
              <a:pPr algn="ctr"/>
              <a:r>
                <a:rPr lang="en-US" sz="2400" b="1" dirty="0">
                  <a:solidFill>
                    <a:schemeClr val="bg1"/>
                  </a:solidFill>
                  <a:latin typeface="Calibri" pitchFamily="34" charset="0"/>
                </a:rPr>
                <a:t>Proactive Push</a:t>
              </a:r>
            </a:p>
            <a:p>
              <a:endParaRPr lang="en-US" sz="2000" dirty="0"/>
            </a:p>
            <a:p>
              <a:r>
                <a:rPr lang="en-US" sz="1600" b="0" dirty="0">
                  <a:solidFill>
                    <a:schemeClr val="bg1"/>
                  </a:solidFill>
                  <a:latin typeface="Calibri" pitchFamily="34" charset="0"/>
                </a:rPr>
                <a:t>Telegram bot slides personalized daily plan into student’s inbox. Zero manual login required.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5296066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8534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609600" y="219456"/>
            <a:ext cx="195072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000" b="1" dirty="0">
                <a:solidFill>
                  <a:schemeClr val="bg1"/>
                </a:solidFill>
              </a:rPr>
              <a:t>Idea</a:t>
            </a:r>
            <a:endParaRPr lang="en-US" sz="1000" dirty="0">
              <a:solidFill>
                <a:schemeClr val="bg1"/>
              </a:solidFill>
            </a:endParaRPr>
          </a:p>
        </p:txBody>
      </p:sp>
      <p:sp>
        <p:nvSpPr>
          <p:cNvPr id="5" name="Text 3"/>
          <p:cNvSpPr/>
          <p:nvPr/>
        </p:nvSpPr>
        <p:spPr>
          <a:xfrm>
            <a:off x="609600" y="670560"/>
            <a:ext cx="10972800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4267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Tech &amp; Architecture</a:t>
            </a:r>
            <a:endParaRPr lang="en-US" sz="4267" dirty="0"/>
          </a:p>
        </p:txBody>
      </p:sp>
      <p:sp>
        <p:nvSpPr>
          <p:cNvPr id="18" name="Text 1">
            <a:extLst>
              <a:ext uri="{FF2B5EF4-FFF2-40B4-BE49-F238E27FC236}">
                <a16:creationId xmlns:a16="http://schemas.microsoft.com/office/drawing/2014/main" id="{B0488D4E-8E6D-456D-9B00-8A96881B3AC1}"/>
              </a:ext>
            </a:extLst>
          </p:cNvPr>
          <p:cNvSpPr/>
          <p:nvPr/>
        </p:nvSpPr>
        <p:spPr>
          <a:xfrm>
            <a:off x="5852160" y="1395928"/>
            <a:ext cx="5120640" cy="5486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endParaRPr lang="en-US" sz="26666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4DB0243-BB37-4E48-8F2A-F31495290DC7}"/>
              </a:ext>
            </a:extLst>
          </p:cNvPr>
          <p:cNvSpPr txBox="1"/>
          <p:nvPr/>
        </p:nvSpPr>
        <p:spPr>
          <a:xfrm>
            <a:off x="385932" y="1861086"/>
            <a:ext cx="6929267" cy="36009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400" b="1" dirty="0">
                <a:solidFill>
                  <a:srgbClr val="0077A8"/>
                </a:solidFill>
                <a:latin typeface="Calibri" pitchFamily="34" charset="0"/>
              </a:rPr>
              <a:t>🔧 Tech Stack</a:t>
            </a:r>
          </a:p>
          <a:p>
            <a:pPr algn="just"/>
            <a:r>
              <a:rPr lang="en-US" b="1" dirty="0">
                <a:latin typeface="Calibri" pitchFamily="34" charset="0"/>
              </a:rPr>
              <a:t>Core Orchestrator: </a:t>
            </a:r>
            <a:r>
              <a:rPr lang="en-US" dirty="0">
                <a:latin typeface="Calibri" pitchFamily="34" charset="0"/>
              </a:rPr>
              <a:t>OpenClaw Framework (TypeScript + Python sandboxing)</a:t>
            </a:r>
          </a:p>
          <a:p>
            <a:pPr algn="just"/>
            <a:r>
              <a:rPr lang="en-US" b="1" dirty="0">
                <a:latin typeface="Calibri" pitchFamily="34" charset="0"/>
              </a:rPr>
              <a:t>Parser: </a:t>
            </a:r>
            <a:r>
              <a:rPr lang="en-US" dirty="0" err="1">
                <a:latin typeface="Calibri" pitchFamily="34" charset="0"/>
              </a:rPr>
              <a:t>PyMuPDF</a:t>
            </a:r>
            <a:r>
              <a:rPr lang="en-US" dirty="0">
                <a:latin typeface="Calibri" pitchFamily="34" charset="0"/>
              </a:rPr>
              <a:t> (</a:t>
            </a:r>
            <a:r>
              <a:rPr lang="en-US" dirty="0" err="1">
                <a:latin typeface="Calibri" pitchFamily="34" charset="0"/>
              </a:rPr>
              <a:t>fitz</a:t>
            </a:r>
            <a:r>
              <a:rPr lang="en-US" dirty="0">
                <a:latin typeface="Calibri" pitchFamily="34" charset="0"/>
              </a:rPr>
              <a:t>) for local PDF resume text extraction</a:t>
            </a:r>
          </a:p>
          <a:p>
            <a:pPr algn="just"/>
            <a:r>
              <a:rPr lang="en-US" b="1" dirty="0">
                <a:latin typeface="Calibri" pitchFamily="34" charset="0"/>
              </a:rPr>
              <a:t>Delivery: </a:t>
            </a:r>
            <a:r>
              <a:rPr lang="en-US" dirty="0">
                <a:latin typeface="Calibri" pitchFamily="34" charset="0"/>
              </a:rPr>
              <a:t>Telegram Bot API + Twilio WhatsApp API</a:t>
            </a:r>
          </a:p>
          <a:p>
            <a:pPr algn="just"/>
            <a:r>
              <a:rPr lang="en-US" b="1" dirty="0">
                <a:latin typeface="Calibri" pitchFamily="34" charset="0"/>
              </a:rPr>
              <a:t>Infra: </a:t>
            </a:r>
            <a:r>
              <a:rPr lang="en-US" dirty="0">
                <a:latin typeface="Calibri" pitchFamily="34" charset="0"/>
              </a:rPr>
              <a:t>Docker Compose, local directory binding, .env secrets</a:t>
            </a:r>
          </a:p>
          <a:p>
            <a:pPr algn="just"/>
            <a:endParaRPr lang="en-US" dirty="0"/>
          </a:p>
          <a:p>
            <a:pPr algn="just"/>
            <a:r>
              <a:rPr lang="en-US" sz="2400" b="1" dirty="0">
                <a:solidFill>
                  <a:srgbClr val="0077A8"/>
                </a:solidFill>
                <a:latin typeface="Calibri" pitchFamily="34" charset="0"/>
              </a:rPr>
              <a:t>🤖 AI Usage</a:t>
            </a:r>
          </a:p>
          <a:p>
            <a:pPr algn="just"/>
            <a:r>
              <a:rPr lang="en-US" b="1" dirty="0">
                <a:latin typeface="Calibri" pitchFamily="34" charset="0"/>
              </a:rPr>
              <a:t>Model: </a:t>
            </a:r>
            <a:r>
              <a:rPr lang="en-US" dirty="0">
                <a:latin typeface="Calibri" pitchFamily="34" charset="0"/>
              </a:rPr>
              <a:t>Llama 3 (llama3-8b-8192)</a:t>
            </a:r>
          </a:p>
          <a:p>
            <a:pPr algn="just"/>
            <a:r>
              <a:rPr lang="en-US" b="1" dirty="0">
                <a:latin typeface="Calibri" pitchFamily="34" charset="0"/>
              </a:rPr>
              <a:t>Inference API: </a:t>
            </a:r>
            <a:r>
              <a:rPr lang="en-US" dirty="0" err="1">
                <a:latin typeface="Calibri" pitchFamily="34" charset="0"/>
              </a:rPr>
              <a:t>Groq</a:t>
            </a:r>
            <a:r>
              <a:rPr lang="en-US" dirty="0">
                <a:latin typeface="Calibri" pitchFamily="34" charset="0"/>
              </a:rPr>
              <a:t> Cloud API — avg latency &lt;1.2s (overcoming local GPU bottlenecks)</a:t>
            </a:r>
          </a:p>
          <a:p>
            <a:pPr algn="just"/>
            <a:r>
              <a:rPr lang="en-US" b="1" dirty="0">
                <a:latin typeface="Calibri" pitchFamily="34" charset="0"/>
              </a:rPr>
              <a:t>Prompts: </a:t>
            </a:r>
            <a:r>
              <a:rPr lang="en-US" dirty="0">
                <a:latin typeface="Calibri" pitchFamily="34" charset="0"/>
              </a:rPr>
              <a:t>Technical role templates outputting raw JSON / CSV skill gaps</a:t>
            </a:r>
          </a:p>
        </p:txBody>
      </p:sp>
      <p:sp>
        <p:nvSpPr>
          <p:cNvPr id="7" name="SystemFlow">
            <a:extLst>
              <a:ext uri="{FF2B5EF4-FFF2-40B4-BE49-F238E27FC236}">
                <a16:creationId xmlns:a16="http://schemas.microsoft.com/office/drawing/2014/main" id="{34AF128A-BB9B-499A-025C-8A21E600DDA4}"/>
              </a:ext>
            </a:extLst>
          </p:cNvPr>
          <p:cNvSpPr/>
          <p:nvPr/>
        </p:nvSpPr>
        <p:spPr>
          <a:xfrm>
            <a:off x="7593687" y="2109216"/>
            <a:ext cx="3829020" cy="3565054"/>
          </a:xfrm>
          <a:prstGeom prst="rect">
            <a:avLst/>
          </a:prstGeom>
          <a:solidFill>
            <a:srgbClr val="F0F9FF"/>
          </a:solidFill>
          <a:ln w="19050">
            <a:solidFill>
              <a:srgbClr val="00B4D8"/>
            </a:solidFill>
          </a:ln>
        </p:spPr>
        <p:txBody>
          <a:bodyPr wrap="square" lIns="228600" tIns="228600" rIns="228600" bIns="228600" rtlCol="0" anchor="t"/>
          <a:lstStyle/>
          <a:p>
            <a:pPr algn="ctr"/>
            <a:r>
              <a:rPr lang="en-US" sz="1600" b="1" dirty="0">
                <a:solidFill>
                  <a:srgbClr val="0077A8"/>
                </a:solidFill>
                <a:latin typeface="Calibri" pitchFamily="34" charset="0"/>
              </a:rPr>
              <a:t>User PDF Resume</a:t>
            </a:r>
          </a:p>
          <a:p>
            <a:pPr algn="ctr"/>
            <a:r>
              <a:rPr lang="en-US" sz="2000" b="0" dirty="0">
                <a:solidFill>
                  <a:srgbClr val="333333"/>
                </a:solidFill>
              </a:rPr>
              <a:t>⬇</a:t>
            </a:r>
          </a:p>
          <a:p>
            <a:pPr algn="ctr"/>
            <a:r>
              <a:rPr lang="en-US" sz="1600" b="1" dirty="0">
                <a:solidFill>
                  <a:srgbClr val="333333"/>
                </a:solidFill>
                <a:latin typeface="Calibri" pitchFamily="34" charset="0"/>
              </a:rPr>
              <a:t>PyMuPDF Extractor</a:t>
            </a:r>
          </a:p>
          <a:p>
            <a:pPr algn="ctr"/>
            <a:r>
              <a:rPr lang="en-US" sz="2000" b="0" dirty="0">
                <a:solidFill>
                  <a:srgbClr val="333333"/>
                </a:solidFill>
              </a:rPr>
              <a:t>⬇</a:t>
            </a:r>
          </a:p>
          <a:p>
            <a:pPr algn="ctr"/>
            <a:r>
              <a:rPr lang="en-US" sz="1600" b="1" dirty="0">
                <a:solidFill>
                  <a:srgbClr val="E81B25"/>
                </a:solidFill>
                <a:latin typeface="Calibri" pitchFamily="34" charset="0"/>
              </a:rPr>
              <a:t>Groq API (Llama 3) ⚡</a:t>
            </a:r>
          </a:p>
          <a:p>
            <a:pPr algn="ctr"/>
            <a:r>
              <a:rPr lang="en-US" sz="2000" b="0" dirty="0">
                <a:solidFill>
                  <a:srgbClr val="333333"/>
                </a:solidFill>
              </a:rPr>
              <a:t>⬇</a:t>
            </a:r>
          </a:p>
          <a:p>
            <a:pPr algn="ctr"/>
            <a:r>
              <a:rPr lang="en-US" sz="1600" b="1" dirty="0">
                <a:solidFill>
                  <a:srgbClr val="333333"/>
                </a:solidFill>
                <a:latin typeface="Calibri" pitchFamily="34" charset="0"/>
              </a:rPr>
              <a:t>ROADMAP.md (Durable Memory)</a:t>
            </a:r>
          </a:p>
          <a:p>
            <a:pPr algn="ctr"/>
            <a:r>
              <a:rPr lang="en-US" sz="2000" b="0" dirty="0">
                <a:solidFill>
                  <a:srgbClr val="333333"/>
                </a:solidFill>
              </a:rPr>
              <a:t>⬇</a:t>
            </a:r>
          </a:p>
          <a:p>
            <a:pPr algn="ctr"/>
            <a:r>
              <a:rPr lang="en-US" sz="1600" b="1" dirty="0">
                <a:solidFill>
                  <a:srgbClr val="333333"/>
                </a:solidFill>
                <a:latin typeface="Calibri" pitchFamily="34" charset="0"/>
              </a:rPr>
              <a:t>OpenClaw Heartbeat Scheduler</a:t>
            </a:r>
          </a:p>
          <a:p>
            <a:pPr algn="ctr"/>
            <a:r>
              <a:rPr lang="en-US" sz="2000" b="0" dirty="0">
                <a:solidFill>
                  <a:srgbClr val="333333"/>
                </a:solidFill>
              </a:rPr>
              <a:t>⬇</a:t>
            </a:r>
          </a:p>
          <a:p>
            <a:pPr algn="ctr"/>
            <a:r>
              <a:rPr lang="en-US" sz="1600" b="1" dirty="0">
                <a:solidFill>
                  <a:srgbClr val="1C7A1C"/>
                </a:solidFill>
                <a:latin typeface="Calibri" pitchFamily="34" charset="0"/>
              </a:rPr>
              <a:t>Telegram Push Notification 📱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1BE9BA6-DD72-959A-F8B2-84BA77A5E77F}"/>
              </a:ext>
            </a:extLst>
          </p:cNvPr>
          <p:cNvSpPr txBox="1"/>
          <p:nvPr/>
        </p:nvSpPr>
        <p:spPr>
          <a:xfrm>
            <a:off x="6550090" y="1631942"/>
            <a:ext cx="61022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800" b="1" u="sng" dirty="0">
                <a:solidFill>
                  <a:srgbClr val="002060"/>
                </a:solidFill>
                <a:latin typeface="Calibri" pitchFamily="34" charset="0"/>
              </a:rPr>
              <a:t>System Flow</a:t>
            </a:r>
            <a:endParaRPr lang="en-US" sz="1050" b="1" u="sng" dirty="0">
              <a:solidFill>
                <a:srgbClr val="002060"/>
              </a:solidFill>
              <a:latin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667874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8534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609600" y="670560"/>
            <a:ext cx="10972800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4267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Impact &amp; Use cases</a:t>
            </a:r>
            <a:endParaRPr lang="en-US" sz="4267" dirty="0"/>
          </a:p>
        </p:txBody>
      </p:sp>
      <p:sp>
        <p:nvSpPr>
          <p:cNvPr id="18" name="Text 1">
            <a:extLst>
              <a:ext uri="{FF2B5EF4-FFF2-40B4-BE49-F238E27FC236}">
                <a16:creationId xmlns:a16="http://schemas.microsoft.com/office/drawing/2014/main" id="{B0488D4E-8E6D-456D-9B00-8A96881B3AC1}"/>
              </a:ext>
            </a:extLst>
          </p:cNvPr>
          <p:cNvSpPr/>
          <p:nvPr/>
        </p:nvSpPr>
        <p:spPr>
          <a:xfrm>
            <a:off x="5852160" y="1395928"/>
            <a:ext cx="5120640" cy="5486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endParaRPr lang="en-US" sz="26666" dirty="0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EAA2D138-B369-78C5-7D42-D475BC30CF9C}"/>
              </a:ext>
            </a:extLst>
          </p:cNvPr>
          <p:cNvGrpSpPr/>
          <p:nvPr/>
        </p:nvGrpSpPr>
        <p:grpSpPr>
          <a:xfrm>
            <a:off x="457200" y="1650000"/>
            <a:ext cx="11342800" cy="4200000"/>
            <a:chOff x="457200" y="1650000"/>
            <a:chExt cx="11342800" cy="4200000"/>
          </a:xfrm>
        </p:grpSpPr>
        <p:sp>
          <p:nvSpPr>
            <p:cNvPr id="7" name="UC1">
              <a:extLst>
                <a:ext uri="{FF2B5EF4-FFF2-40B4-BE49-F238E27FC236}">
                  <a16:creationId xmlns:a16="http://schemas.microsoft.com/office/drawing/2014/main" id="{C45010A0-7F99-47EE-FACF-EE1C9A6FD1A0}"/>
                </a:ext>
              </a:extLst>
            </p:cNvPr>
            <p:cNvSpPr/>
            <p:nvPr/>
          </p:nvSpPr>
          <p:spPr>
            <a:xfrm>
              <a:off x="457200" y="1650000"/>
              <a:ext cx="7200000" cy="1400000"/>
            </a:xfrm>
            <a:prstGeom prst="rect">
              <a:avLst/>
            </a:prstGeom>
            <a:solidFill>
              <a:srgbClr val="F0F9FF"/>
            </a:solidFill>
            <a:ln w="19050">
              <a:solidFill>
                <a:srgbClr val="0077A8"/>
              </a:solidFill>
            </a:ln>
          </p:spPr>
          <p:txBody>
            <a:bodyPr wrap="square" lIns="228600" tIns="152400" rIns="228600" bIns="152400" rtlCol="0" anchor="t"/>
            <a:lstStyle/>
            <a:p>
              <a:r>
                <a:rPr lang="en-US" b="1" dirty="0">
                  <a:solidFill>
                    <a:srgbClr val="0077A8"/>
                  </a:solidFill>
                  <a:latin typeface="Calibri" pitchFamily="34" charset="0"/>
                </a:rPr>
                <a:t>🔧 Scenario 1: The Skill Gap Corrector</a:t>
              </a:r>
            </a:p>
            <a:p>
              <a:r>
                <a:rPr lang="en-US" sz="1600" b="0" dirty="0">
                  <a:latin typeface="Calibri" pitchFamily="34" charset="0"/>
                </a:rPr>
                <a:t>Aditya wants an AI Engineer role but his resume lacks Docker. ClawMentor detects the gap, adds it to ROADMAP.md, and auto-schedules daily 1-hour micro-lessons pushed to his Telegram.</a:t>
              </a:r>
            </a:p>
          </p:txBody>
        </p:sp>
        <p:sp>
          <p:nvSpPr>
            <p:cNvPr id="8" name="UC2">
              <a:extLst>
                <a:ext uri="{FF2B5EF4-FFF2-40B4-BE49-F238E27FC236}">
                  <a16:creationId xmlns:a16="http://schemas.microsoft.com/office/drawing/2014/main" id="{66258527-AF90-205C-1274-BF7E171946FD}"/>
                </a:ext>
              </a:extLst>
            </p:cNvPr>
            <p:cNvSpPr/>
            <p:nvPr/>
          </p:nvSpPr>
          <p:spPr>
            <a:xfrm>
              <a:off x="457200" y="3150000"/>
              <a:ext cx="7200000" cy="1400000"/>
            </a:xfrm>
            <a:prstGeom prst="rect">
              <a:avLst/>
            </a:prstGeom>
            <a:solidFill>
              <a:srgbClr val="FFF3F3"/>
            </a:solidFill>
            <a:ln w="19050">
              <a:solidFill>
                <a:srgbClr val="E81B25"/>
              </a:solidFill>
            </a:ln>
          </p:spPr>
          <p:txBody>
            <a:bodyPr wrap="square" lIns="228600" tIns="152400" rIns="228600" bIns="152400" rtlCol="0" anchor="t"/>
            <a:lstStyle/>
            <a:p>
              <a:r>
                <a:rPr lang="en-US" b="1" dirty="0">
                  <a:solidFill>
                    <a:srgbClr val="E81B25"/>
                  </a:solidFill>
                  <a:latin typeface="Calibri" pitchFamily="34" charset="0"/>
                </a:rPr>
                <a:t>🔍 Scenario 2: The Proactive Job Hunter</a:t>
              </a:r>
            </a:p>
            <a:p>
              <a:r>
                <a:rPr lang="en-US" sz="1600" b="0" dirty="0">
                  <a:latin typeface="Calibri" pitchFamily="34" charset="0"/>
                </a:rPr>
                <a:t>Sneha wants a backend internship. Opportunity Tracker scans job listings, alerts her on WhatsApp: “Nvidia just posted an internship. Your resume matches 85%. Apply here!”</a:t>
              </a:r>
            </a:p>
          </p:txBody>
        </p:sp>
        <p:sp>
          <p:nvSpPr>
            <p:cNvPr id="11" name="UC3">
              <a:extLst>
                <a:ext uri="{FF2B5EF4-FFF2-40B4-BE49-F238E27FC236}">
                  <a16:creationId xmlns:a16="http://schemas.microsoft.com/office/drawing/2014/main" id="{CB54AA21-AB15-F3AE-E2FE-18DA2D50A1F2}"/>
                </a:ext>
              </a:extLst>
            </p:cNvPr>
            <p:cNvSpPr/>
            <p:nvPr/>
          </p:nvSpPr>
          <p:spPr>
            <a:xfrm>
              <a:off x="457200" y="4650000"/>
              <a:ext cx="7200000" cy="1200000"/>
            </a:xfrm>
            <a:prstGeom prst="rect">
              <a:avLst/>
            </a:prstGeom>
            <a:solidFill>
              <a:srgbClr val="F0FFF0"/>
            </a:solidFill>
            <a:ln w="19050">
              <a:solidFill>
                <a:srgbClr val="1C7A1C"/>
              </a:solidFill>
            </a:ln>
          </p:spPr>
          <p:txBody>
            <a:bodyPr wrap="square" lIns="228600" tIns="152400" rIns="228600" bIns="152400" rtlCol="0" anchor="t"/>
            <a:lstStyle/>
            <a:p>
              <a:r>
                <a:rPr lang="en-US" b="1" dirty="0">
                  <a:solidFill>
                    <a:srgbClr val="1C7A1C"/>
                  </a:solidFill>
                  <a:latin typeface="Calibri" pitchFamily="34" charset="0"/>
                </a:rPr>
                <a:t>📊 Scenario 3: The Progress Tracker</a:t>
              </a:r>
            </a:p>
            <a:p>
              <a:r>
                <a:rPr lang="en-US" sz="1600" b="0" dirty="0">
                  <a:latin typeface="Calibri" pitchFamily="34" charset="0"/>
                </a:rPr>
                <a:t>At week’s end, ClawMentor compiles Aditya’s learning steps + git commits into a .docx weekly report, ready for mentorship review.</a:t>
              </a:r>
            </a:p>
          </p:txBody>
        </p:sp>
        <p:sp>
          <p:nvSpPr>
            <p:cNvPr id="12" name="ScalePotential">
              <a:extLst>
                <a:ext uri="{FF2B5EF4-FFF2-40B4-BE49-F238E27FC236}">
                  <a16:creationId xmlns:a16="http://schemas.microsoft.com/office/drawing/2014/main" id="{5D663BD0-029B-14A6-1664-AAF324D65018}"/>
                </a:ext>
              </a:extLst>
            </p:cNvPr>
            <p:cNvSpPr/>
            <p:nvPr/>
          </p:nvSpPr>
          <p:spPr>
            <a:xfrm>
              <a:off x="8000000" y="1650000"/>
              <a:ext cx="3800000" cy="4200000"/>
            </a:xfrm>
            <a:prstGeom prst="rect">
              <a:avLst/>
            </a:prstGeom>
            <a:solidFill>
              <a:srgbClr val="1A1A2E"/>
            </a:solidFill>
          </p:spPr>
          <p:txBody>
            <a:bodyPr wrap="square" lIns="228600" tIns="304800" rIns="228600" bIns="304800" rtlCol="0" anchor="t"/>
            <a:lstStyle/>
            <a:p>
              <a:pPr algn="ctr"/>
              <a:r>
                <a:rPr lang="en-US" sz="1600" b="1" dirty="0">
                  <a:solidFill>
                    <a:srgbClr val="00B4D8"/>
                  </a:solidFill>
                  <a:latin typeface="Calibri" pitchFamily="34" charset="0"/>
                </a:rPr>
                <a:t>🏛 Scale Potential</a:t>
              </a:r>
            </a:p>
            <a:p>
              <a:endParaRPr lang="en-US" sz="1100" dirty="0"/>
            </a:p>
            <a:p>
              <a:pPr algn="ctr"/>
              <a:r>
                <a:rPr lang="en-US" sz="4000" b="1" dirty="0">
                  <a:solidFill>
                    <a:srgbClr val="FFFFFF"/>
                  </a:solidFill>
                  <a:latin typeface="Calibri" pitchFamily="34" charset="0"/>
                </a:rPr>
                <a:t>1000s</a:t>
              </a:r>
            </a:p>
            <a:p>
              <a:pPr algn="ctr"/>
              <a:endParaRPr lang="en-US" sz="1100" dirty="0"/>
            </a:p>
            <a:p>
              <a:r>
                <a:rPr lang="en-US" sz="1400" b="0" dirty="0">
                  <a:solidFill>
                    <a:schemeClr val="bg1"/>
                  </a:solidFill>
                  <a:latin typeface="Calibri" pitchFamily="34" charset="0"/>
                </a:rPr>
                <a:t>✅ Direct integration into college placement cells</a:t>
              </a:r>
            </a:p>
            <a:p>
              <a:endParaRPr lang="en-US" sz="1100" dirty="0"/>
            </a:p>
            <a:p>
              <a:r>
                <a:rPr lang="en-US" sz="1400" b="0" dirty="0">
                  <a:solidFill>
                    <a:schemeClr val="bg1"/>
                  </a:solidFill>
                  <a:latin typeface="Calibri" pitchFamily="34" charset="0"/>
                </a:rPr>
                <a:t>🔒 Zero Cloud Leakage — all student data stays inside a private local database</a:t>
              </a:r>
            </a:p>
            <a:p>
              <a:endParaRPr lang="en-US" sz="1100" dirty="0"/>
            </a:p>
            <a:p>
              <a:r>
                <a:rPr lang="en-US" sz="1400" b="0" dirty="0">
                  <a:solidFill>
                    <a:schemeClr val="bg1"/>
                  </a:solidFill>
                  <a:latin typeface="Calibri" pitchFamily="34" charset="0"/>
                </a:rPr>
                <a:t>🏛 Ideal for institutional security policies &amp; DPDP compliance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27735801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8534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609600" y="219456"/>
            <a:ext cx="195072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000" b="1" dirty="0">
                <a:solidFill>
                  <a:schemeClr val="bg1"/>
                </a:solidFill>
              </a:rPr>
              <a:t>Idea</a:t>
            </a:r>
            <a:endParaRPr lang="en-US" sz="1000" dirty="0">
              <a:solidFill>
                <a:schemeClr val="bg1"/>
              </a:solidFill>
            </a:endParaRPr>
          </a:p>
        </p:txBody>
      </p:sp>
      <p:sp>
        <p:nvSpPr>
          <p:cNvPr id="5" name="Text 3"/>
          <p:cNvSpPr/>
          <p:nvPr/>
        </p:nvSpPr>
        <p:spPr>
          <a:xfrm>
            <a:off x="609600" y="670560"/>
            <a:ext cx="10972800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4267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Differentiation</a:t>
            </a:r>
            <a:endParaRPr lang="en-US" sz="4267" dirty="0"/>
          </a:p>
        </p:txBody>
      </p:sp>
      <p:sp>
        <p:nvSpPr>
          <p:cNvPr id="18" name="Text 1">
            <a:extLst>
              <a:ext uri="{FF2B5EF4-FFF2-40B4-BE49-F238E27FC236}">
                <a16:creationId xmlns:a16="http://schemas.microsoft.com/office/drawing/2014/main" id="{B0488D4E-8E6D-456D-9B00-8A96881B3AC1}"/>
              </a:ext>
            </a:extLst>
          </p:cNvPr>
          <p:cNvSpPr/>
          <p:nvPr/>
        </p:nvSpPr>
        <p:spPr>
          <a:xfrm>
            <a:off x="5852160" y="1395928"/>
            <a:ext cx="5120640" cy="5486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endParaRPr lang="en-US" sz="26666" dirty="0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5A24C945-E86D-8B29-FA2C-A149EF7FA4A3}"/>
              </a:ext>
            </a:extLst>
          </p:cNvPr>
          <p:cNvGrpSpPr/>
          <p:nvPr/>
        </p:nvGrpSpPr>
        <p:grpSpPr>
          <a:xfrm>
            <a:off x="609600" y="1957910"/>
            <a:ext cx="11190400" cy="4096221"/>
            <a:chOff x="609600" y="1650000"/>
            <a:chExt cx="11190400" cy="4096221"/>
          </a:xfrm>
        </p:grpSpPr>
        <p:sp>
          <p:nvSpPr>
            <p:cNvPr id="7" name="CompareIntro">
              <a:extLst>
                <a:ext uri="{FF2B5EF4-FFF2-40B4-BE49-F238E27FC236}">
                  <a16:creationId xmlns:a16="http://schemas.microsoft.com/office/drawing/2014/main" id="{F6B3AAF2-C5A0-6CB0-4897-8E909E1AB12F}"/>
                </a:ext>
              </a:extLst>
            </p:cNvPr>
            <p:cNvSpPr txBox="1"/>
            <p:nvPr/>
          </p:nvSpPr>
          <p:spPr>
            <a:xfrm>
              <a:off x="609600" y="1650000"/>
              <a:ext cx="11190400" cy="600000"/>
            </a:xfrm>
            <a:prstGeom prst="rect">
              <a:avLst/>
            </a:prstGeom>
            <a:solidFill>
              <a:srgbClr val="E8F7FB"/>
            </a:solidFill>
          </p:spPr>
          <p:txBody>
            <a:bodyPr wrap="square" lIns="228600" tIns="114300" rIns="228600" bIns="114300" rtlCol="0" anchor="ctr"/>
            <a:lstStyle/>
            <a:p>
              <a:r>
                <a:rPr lang="en-US" sz="1400" b="1" dirty="0">
                  <a:solidFill>
                    <a:srgbClr val="555555"/>
                  </a:solidFill>
                  <a:latin typeface="Calibri" pitchFamily="34" charset="0"/>
                </a:rPr>
                <a:t>Roadmap.sh is </a:t>
              </a:r>
              <a:r>
                <a:rPr lang="en-US" sz="1400" b="1" dirty="0">
                  <a:solidFill>
                    <a:srgbClr val="E81B25"/>
                  </a:solidFill>
                  <a:latin typeface="Calibri" pitchFamily="34" charset="0"/>
                </a:rPr>
                <a:t>static.</a:t>
              </a:r>
              <a:r>
                <a:rPr lang="en-US" sz="1400" b="1" dirty="0">
                  <a:solidFill>
                    <a:srgbClr val="555555"/>
                  </a:solidFill>
                  <a:latin typeface="Calibri" pitchFamily="34" charset="0"/>
                </a:rPr>
                <a:t>  ChatGPT is </a:t>
              </a:r>
              <a:r>
                <a:rPr lang="en-US" sz="1400" b="1" dirty="0">
                  <a:solidFill>
                    <a:srgbClr val="E81B25"/>
                  </a:solidFill>
                  <a:latin typeface="Calibri" pitchFamily="34" charset="0"/>
                </a:rPr>
                <a:t>passive.</a:t>
              </a:r>
              <a:r>
                <a:rPr lang="en-US" sz="1400" b="1" dirty="0">
                  <a:solidFill>
                    <a:srgbClr val="555555"/>
                  </a:solidFill>
                  <a:latin typeface="Calibri" pitchFamily="34" charset="0"/>
                </a:rPr>
                <a:t>  ClawMentor Bharat is </a:t>
              </a:r>
              <a:r>
                <a:rPr lang="en-US" sz="1400" b="1" dirty="0">
                  <a:solidFill>
                    <a:srgbClr val="1C7A1C"/>
                  </a:solidFill>
                  <a:latin typeface="Calibri" pitchFamily="34" charset="0"/>
                </a:rPr>
                <a:t>proactive, continuous, and sovereign.</a:t>
              </a:r>
            </a:p>
          </p:txBody>
        </p:sp>
        <p:sp>
          <p:nvSpPr>
            <p:cNvPr id="8" name="MOAT1">
              <a:extLst>
                <a:ext uri="{FF2B5EF4-FFF2-40B4-BE49-F238E27FC236}">
                  <a16:creationId xmlns:a16="http://schemas.microsoft.com/office/drawing/2014/main" id="{03B4B7E8-5C18-D556-800F-40126FD8275C}"/>
                </a:ext>
              </a:extLst>
            </p:cNvPr>
            <p:cNvSpPr/>
            <p:nvPr/>
          </p:nvSpPr>
          <p:spPr>
            <a:xfrm>
              <a:off x="609600" y="2450000"/>
              <a:ext cx="5486400" cy="2900000"/>
            </a:xfrm>
            <a:prstGeom prst="rect">
              <a:avLst/>
            </a:prstGeom>
            <a:solidFill>
              <a:srgbClr val="0077A8"/>
            </a:solidFill>
          </p:spPr>
          <p:txBody>
            <a:bodyPr wrap="square" lIns="304800" tIns="304800" rIns="304800" bIns="304800" rtlCol="0" anchor="t"/>
            <a:lstStyle/>
            <a:p>
              <a:r>
                <a:rPr lang="en-US" sz="3600" b="1" dirty="0">
                  <a:solidFill>
                    <a:schemeClr val="bg1"/>
                  </a:solidFill>
                  <a:latin typeface="Calibri" pitchFamily="34" charset="0"/>
                </a:rPr>
                <a:t>🏰</a:t>
              </a:r>
            </a:p>
            <a:p>
              <a:r>
                <a:rPr lang="en-US" b="1" dirty="0">
                  <a:solidFill>
                    <a:schemeClr val="bg1"/>
                  </a:solidFill>
                  <a:latin typeface="Calibri" pitchFamily="34" charset="0"/>
                </a:rPr>
                <a:t>MOAT 1: Durable Memory Vault</a:t>
              </a:r>
            </a:p>
            <a:p>
              <a:endParaRPr lang="en-US" sz="1400" dirty="0"/>
            </a:p>
            <a:p>
              <a:r>
                <a:rPr lang="en-US" sz="1400" b="0" dirty="0">
                  <a:solidFill>
                    <a:schemeClr val="bg1"/>
                  </a:solidFill>
                  <a:latin typeface="Calibri" pitchFamily="34" charset="0"/>
                </a:rPr>
                <a:t>OpenClaw’s local Markdown-based memory (SOUL.md, USER.md, ROADMAP.md) stores the student’s entire career journey in a private, immutable local data layer.</a:t>
              </a:r>
            </a:p>
            <a:p>
              <a:endParaRPr lang="en-US" sz="1400" dirty="0"/>
            </a:p>
            <a:p>
              <a:r>
                <a:rPr lang="en-US" sz="1400" b="0" dirty="0">
                  <a:solidFill>
                    <a:schemeClr val="bg1"/>
                  </a:solidFill>
                  <a:latin typeface="Calibri" pitchFamily="34" charset="0"/>
                </a:rPr>
                <a:t>The AI retains state over months without ever leaking to open clouds. Competitors cannot replicate this without total architectural change.</a:t>
              </a:r>
            </a:p>
          </p:txBody>
        </p:sp>
        <p:sp>
          <p:nvSpPr>
            <p:cNvPr id="11" name="MOAT2">
              <a:extLst>
                <a:ext uri="{FF2B5EF4-FFF2-40B4-BE49-F238E27FC236}">
                  <a16:creationId xmlns:a16="http://schemas.microsoft.com/office/drawing/2014/main" id="{C394E9A1-BC71-BD59-46B1-63C58EFC5FB6}"/>
                </a:ext>
              </a:extLst>
            </p:cNvPr>
            <p:cNvSpPr/>
            <p:nvPr/>
          </p:nvSpPr>
          <p:spPr>
            <a:xfrm>
              <a:off x="6400000" y="2450000"/>
              <a:ext cx="5400000" cy="2900000"/>
            </a:xfrm>
            <a:prstGeom prst="rect">
              <a:avLst/>
            </a:prstGeom>
            <a:solidFill>
              <a:schemeClr val="accent5">
                <a:lumMod val="75000"/>
              </a:schemeClr>
            </a:solidFill>
          </p:spPr>
          <p:txBody>
            <a:bodyPr wrap="square" lIns="304800" tIns="304800" rIns="304800" bIns="304800" rtlCol="0" anchor="t"/>
            <a:lstStyle/>
            <a:p>
              <a:r>
                <a:rPr lang="en-US" sz="3600" b="1" dirty="0">
                  <a:solidFill>
                    <a:schemeClr val="bg1"/>
                  </a:solidFill>
                  <a:latin typeface="Calibri" pitchFamily="34" charset="0"/>
                </a:rPr>
                <a:t>⏰</a:t>
              </a:r>
            </a:p>
            <a:p>
              <a:r>
                <a:rPr lang="en-US" b="1" dirty="0">
                  <a:solidFill>
                    <a:schemeClr val="bg1"/>
                  </a:solidFill>
                  <a:latin typeface="Calibri" pitchFamily="34" charset="0"/>
                </a:rPr>
                <a:t>MOAT 2: Active Push vs Passive Pull</a:t>
              </a:r>
            </a:p>
            <a:p>
              <a:endParaRPr lang="en-US" sz="1400" dirty="0"/>
            </a:p>
            <a:p>
              <a:r>
                <a:rPr lang="en-US" sz="1400" b="0" dirty="0">
                  <a:solidFill>
                    <a:schemeClr val="bg1"/>
                  </a:solidFill>
                  <a:latin typeface="Calibri" pitchFamily="34" charset="0"/>
                </a:rPr>
                <a:t>Traditional tools are passive — the student must open an app and ask. ClawMentor uses an autonomous background HEARTBEAT scheduler to initiate action.</a:t>
              </a:r>
            </a:p>
            <a:p>
              <a:endParaRPr lang="en-US" sz="1400" dirty="0"/>
            </a:p>
            <a:p>
              <a:r>
                <a:rPr lang="en-US" sz="1400" b="0" dirty="0">
                  <a:solidFill>
                    <a:schemeClr val="bg1"/>
                  </a:solidFill>
                  <a:latin typeface="Calibri" pitchFamily="34" charset="0"/>
                </a:rPr>
                <a:t>Career guidance becomes a seamless daily habit instead of a chore — transforming student behaviour at scale.</a:t>
              </a:r>
            </a:p>
          </p:txBody>
        </p:sp>
        <p:sp>
          <p:nvSpPr>
            <p:cNvPr id="12" name="MoatDef">
              <a:extLst>
                <a:ext uri="{FF2B5EF4-FFF2-40B4-BE49-F238E27FC236}">
                  <a16:creationId xmlns:a16="http://schemas.microsoft.com/office/drawing/2014/main" id="{EA1A98CE-E226-9449-80E2-021E289B4483}"/>
                </a:ext>
              </a:extLst>
            </p:cNvPr>
            <p:cNvSpPr txBox="1"/>
            <p:nvPr/>
          </p:nvSpPr>
          <p:spPr>
            <a:xfrm>
              <a:off x="609600" y="5500000"/>
              <a:ext cx="10972800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000" b="0" i="1" dirty="0">
                  <a:solidFill>
                    <a:srgbClr val="888888"/>
                  </a:solidFill>
                  <a:latin typeface="Calibri" pitchFamily="34" charset="0"/>
                </a:rPr>
                <a:t>In business, a moat is a sustainable competitive advantage that protects a product from competitors and helps maintain long-term profitability.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74642580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8534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609600" y="219456"/>
            <a:ext cx="195072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000" b="1" dirty="0">
                <a:solidFill>
                  <a:schemeClr val="bg1"/>
                </a:solidFill>
              </a:rPr>
              <a:t>Idea</a:t>
            </a:r>
            <a:endParaRPr lang="en-US" sz="1000" dirty="0">
              <a:solidFill>
                <a:schemeClr val="bg1"/>
              </a:solidFill>
            </a:endParaRPr>
          </a:p>
        </p:txBody>
      </p:sp>
      <p:sp>
        <p:nvSpPr>
          <p:cNvPr id="5" name="Text 3"/>
          <p:cNvSpPr/>
          <p:nvPr/>
        </p:nvSpPr>
        <p:spPr>
          <a:xfrm>
            <a:off x="609600" y="670560"/>
            <a:ext cx="10972800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4267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Demo Link</a:t>
            </a:r>
            <a:endParaRPr lang="en-US" sz="4267" dirty="0"/>
          </a:p>
        </p:txBody>
      </p:sp>
      <p:sp>
        <p:nvSpPr>
          <p:cNvPr id="18" name="Text 1">
            <a:extLst>
              <a:ext uri="{FF2B5EF4-FFF2-40B4-BE49-F238E27FC236}">
                <a16:creationId xmlns:a16="http://schemas.microsoft.com/office/drawing/2014/main" id="{B0488D4E-8E6D-456D-9B00-8A96881B3AC1}"/>
              </a:ext>
            </a:extLst>
          </p:cNvPr>
          <p:cNvSpPr/>
          <p:nvPr/>
        </p:nvSpPr>
        <p:spPr>
          <a:xfrm>
            <a:off x="5852160" y="1395928"/>
            <a:ext cx="5120640" cy="5486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endParaRPr lang="en-US" sz="26666" dirty="0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5B71BAA9-919D-0953-DDBC-D88F99D0E4DA}"/>
              </a:ext>
            </a:extLst>
          </p:cNvPr>
          <p:cNvGrpSpPr/>
          <p:nvPr/>
        </p:nvGrpSpPr>
        <p:grpSpPr>
          <a:xfrm>
            <a:off x="609600" y="1765616"/>
            <a:ext cx="10972800" cy="4100000"/>
            <a:chOff x="609600" y="1700000"/>
            <a:chExt cx="10972800" cy="4100000"/>
          </a:xfrm>
        </p:grpSpPr>
        <p:sp>
          <p:nvSpPr>
            <p:cNvPr id="7" name="GH">
              <a:extLst>
                <a:ext uri="{FF2B5EF4-FFF2-40B4-BE49-F238E27FC236}">
                  <a16:creationId xmlns:a16="http://schemas.microsoft.com/office/drawing/2014/main" id="{79F3548C-CE7D-00FD-6117-A15C6376DDE7}"/>
                </a:ext>
              </a:extLst>
            </p:cNvPr>
            <p:cNvSpPr/>
            <p:nvPr/>
          </p:nvSpPr>
          <p:spPr>
            <a:xfrm>
              <a:off x="609600" y="1700000"/>
              <a:ext cx="10972800" cy="1200000"/>
            </a:xfrm>
            <a:prstGeom prst="rect">
              <a:avLst/>
            </a:prstGeom>
            <a:solidFill>
              <a:srgbClr val="1A1A2E"/>
            </a:solidFill>
          </p:spPr>
          <p:txBody>
            <a:bodyPr wrap="square" lIns="304800" tIns="228600" rIns="304800" bIns="228600" rtlCol="0" anchor="ctr"/>
            <a:lstStyle/>
            <a:p>
              <a:r>
                <a:rPr lang="en-US" sz="2000" b="1" dirty="0">
                  <a:solidFill>
                    <a:srgbClr val="FFFFFF"/>
                  </a:solidFill>
                  <a:latin typeface="Calibri" pitchFamily="34" charset="0"/>
                </a:rPr>
                <a:t>📦 GitHub Repository</a:t>
              </a:r>
            </a:p>
            <a:p>
              <a:r>
                <a:rPr lang="en-US" sz="1400" b="0" dirty="0">
                  <a:solidFill>
                    <a:srgbClr val="00B4D8"/>
                  </a:solidFill>
                  <a:latin typeface="Calibri" pitchFamily="34" charset="0"/>
                </a:rPr>
                <a:t>github.com/sahanavs-2006/</a:t>
              </a:r>
              <a:r>
                <a:rPr lang="en-US" sz="1400" b="0" dirty="0" err="1">
                  <a:solidFill>
                    <a:srgbClr val="00B4D8"/>
                  </a:solidFill>
                  <a:latin typeface="Calibri" pitchFamily="34" charset="0"/>
                </a:rPr>
                <a:t>ClawMentor</a:t>
              </a:r>
              <a:r>
                <a:rPr lang="en-US" sz="1400" b="0" dirty="0">
                  <a:solidFill>
                    <a:srgbClr val="00B4D8"/>
                  </a:solidFill>
                  <a:latin typeface="Calibri" pitchFamily="34" charset="0"/>
                </a:rPr>
                <a:t>-Bharat</a:t>
              </a:r>
              <a:endParaRPr lang="en-US" sz="1200" b="0" dirty="0">
                <a:solidFill>
                  <a:srgbClr val="888888"/>
                </a:solidFill>
                <a:latin typeface="Calibri" pitchFamily="34" charset="0"/>
              </a:endParaRPr>
            </a:p>
          </p:txBody>
        </p:sp>
        <p:sp>
          <p:nvSpPr>
            <p:cNvPr id="8" name="Video">
              <a:extLst>
                <a:ext uri="{FF2B5EF4-FFF2-40B4-BE49-F238E27FC236}">
                  <a16:creationId xmlns:a16="http://schemas.microsoft.com/office/drawing/2014/main" id="{6D08B220-1A23-9DB1-B224-E76E14CB1742}"/>
                </a:ext>
              </a:extLst>
            </p:cNvPr>
            <p:cNvSpPr/>
            <p:nvPr/>
          </p:nvSpPr>
          <p:spPr>
            <a:xfrm>
              <a:off x="609600" y="3050000"/>
              <a:ext cx="10972800" cy="1200000"/>
            </a:xfrm>
            <a:prstGeom prst="rect">
              <a:avLst/>
            </a:prstGeom>
            <a:solidFill>
              <a:srgbClr val="E81B25"/>
            </a:solidFill>
          </p:spPr>
          <p:txBody>
            <a:bodyPr wrap="square" lIns="304800" tIns="228600" rIns="304800" bIns="228600" rtlCol="0" anchor="ctr"/>
            <a:lstStyle/>
            <a:p>
              <a:r>
                <a:rPr lang="en-US" sz="2000" b="1" dirty="0">
                  <a:solidFill>
                    <a:schemeClr val="bg1"/>
                  </a:solidFill>
                  <a:latin typeface="Calibri" pitchFamily="34" charset="0"/>
                </a:rPr>
                <a:t>🎬 Interactive Video Walkthrough</a:t>
              </a:r>
            </a:p>
            <a:p>
              <a:r>
                <a:rPr lang="en-US" sz="1400" b="1" dirty="0">
                  <a:solidFill>
                    <a:srgbClr val="002060"/>
                  </a:solidFill>
                  <a:latin typeface="Calibri" pitchFamily="34" charset="0"/>
                </a:rPr>
                <a:t>https://drive.google.com/file/d/1_AZtuJ2z9fnawkDF0ECsTSgQKF33s5m2/view?usp=sharing</a:t>
              </a:r>
            </a:p>
          </p:txBody>
        </p:sp>
        <p:sp>
          <p:nvSpPr>
            <p:cNvPr id="10" name="Deliverables">
              <a:extLst>
                <a:ext uri="{FF2B5EF4-FFF2-40B4-BE49-F238E27FC236}">
                  <a16:creationId xmlns:a16="http://schemas.microsoft.com/office/drawing/2014/main" id="{6D70C371-FD88-3DE6-D762-1D18792181DD}"/>
                </a:ext>
              </a:extLst>
            </p:cNvPr>
            <p:cNvSpPr/>
            <p:nvPr/>
          </p:nvSpPr>
          <p:spPr>
            <a:xfrm>
              <a:off x="609600" y="4400000"/>
              <a:ext cx="10972800" cy="1400000"/>
            </a:xfrm>
            <a:prstGeom prst="rect">
              <a:avLst/>
            </a:prstGeom>
            <a:solidFill>
              <a:srgbClr val="F0F9FF"/>
            </a:solidFill>
            <a:ln w="19050">
              <a:solidFill>
                <a:srgbClr val="0077A8"/>
              </a:solidFill>
            </a:ln>
          </p:spPr>
          <p:txBody>
            <a:bodyPr wrap="square" lIns="304800" tIns="228600" rIns="304800" bIns="228600" rtlCol="0" anchor="t"/>
            <a:lstStyle/>
            <a:p>
              <a:r>
                <a:rPr lang="en-US" sz="1600" b="1" dirty="0">
                  <a:solidFill>
                    <a:srgbClr val="0077A8"/>
                  </a:solidFill>
                  <a:latin typeface="Calibri" pitchFamily="34" charset="0"/>
                </a:rPr>
                <a:t>📋 Submitted Deliverables</a:t>
              </a:r>
            </a:p>
            <a:p>
              <a:r>
                <a:rPr lang="en-US" sz="1400" b="0" dirty="0">
                  <a:latin typeface="Calibri" pitchFamily="34" charset="0"/>
                </a:rPr>
                <a:t>✅ Complete source code with Groq API integration (utils/llm.py)  </a:t>
              </a:r>
            </a:p>
            <a:p>
              <a:r>
                <a:rPr lang="en-US" sz="1400" b="0" dirty="0">
                  <a:latin typeface="Calibri" pitchFamily="34" charset="0"/>
                </a:rPr>
                <a:t>✅ Pre-staged durable memory profiles (memory/) </a:t>
              </a:r>
            </a:p>
            <a:p>
              <a:r>
                <a:rPr lang="en-US" sz="1400" b="0" dirty="0">
                  <a:latin typeface="Calibri" pitchFamily="34" charset="0"/>
                </a:rPr>
                <a:t>✅ Comprehensive README.md with setup, usage &amp; AI disclosure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09827954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8534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609600" y="219456"/>
            <a:ext cx="195072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000" b="1" dirty="0">
                <a:solidFill>
                  <a:schemeClr val="bg1"/>
                </a:solidFill>
              </a:rPr>
              <a:t>Idea</a:t>
            </a:r>
            <a:endParaRPr lang="en-US" sz="1000" dirty="0">
              <a:solidFill>
                <a:schemeClr val="bg1"/>
              </a:solidFill>
            </a:endParaRPr>
          </a:p>
        </p:txBody>
      </p:sp>
      <p:sp>
        <p:nvSpPr>
          <p:cNvPr id="18" name="Text 1">
            <a:extLst>
              <a:ext uri="{FF2B5EF4-FFF2-40B4-BE49-F238E27FC236}">
                <a16:creationId xmlns:a16="http://schemas.microsoft.com/office/drawing/2014/main" id="{B0488D4E-8E6D-456D-9B00-8A96881B3AC1}"/>
              </a:ext>
            </a:extLst>
          </p:cNvPr>
          <p:cNvSpPr/>
          <p:nvPr/>
        </p:nvSpPr>
        <p:spPr>
          <a:xfrm>
            <a:off x="5852160" y="1395928"/>
            <a:ext cx="5120640" cy="5486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endParaRPr lang="en-US" sz="26666" dirty="0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CDE1CD9E-605D-A0E9-31F3-42E8CC62F692}"/>
              </a:ext>
            </a:extLst>
          </p:cNvPr>
          <p:cNvGrpSpPr/>
          <p:nvPr/>
        </p:nvGrpSpPr>
        <p:grpSpPr>
          <a:xfrm>
            <a:off x="457200" y="1771299"/>
            <a:ext cx="11277600" cy="4200000"/>
            <a:chOff x="457200" y="1650000"/>
            <a:chExt cx="11277600" cy="4200000"/>
          </a:xfrm>
        </p:grpSpPr>
        <p:sp>
          <p:nvSpPr>
            <p:cNvPr id="7" name="IntroBanner">
              <a:extLst>
                <a:ext uri="{FF2B5EF4-FFF2-40B4-BE49-F238E27FC236}">
                  <a16:creationId xmlns:a16="http://schemas.microsoft.com/office/drawing/2014/main" id="{C5F55FCD-226E-5C91-C3C1-DDB1A4F0AB3A}"/>
                </a:ext>
              </a:extLst>
            </p:cNvPr>
            <p:cNvSpPr txBox="1"/>
            <p:nvPr/>
          </p:nvSpPr>
          <p:spPr>
            <a:xfrm>
              <a:off x="609600" y="1650000"/>
              <a:ext cx="10972800" cy="550000"/>
            </a:xfrm>
            <a:prstGeom prst="rect">
              <a:avLst/>
            </a:prstGeom>
            <a:solidFill>
              <a:srgbClr val="1A1A2E"/>
            </a:solidFill>
          </p:spPr>
          <p:txBody>
            <a:bodyPr wrap="square" lIns="304800" tIns="114300" rIns="304800" bIns="114300" rtlCol="0" anchor="ctr"/>
            <a:lstStyle/>
            <a:p>
              <a:pPr algn="ctr"/>
              <a:r>
                <a:rPr lang="en-US" sz="1400" b="1" dirty="0">
                  <a:solidFill>
                    <a:srgbClr val="FFFFFF"/>
                  </a:solidFill>
                  <a:latin typeface="Calibri" pitchFamily="34" charset="0"/>
                </a:rPr>
                <a:t>Why ClawMentor Bharat is a </a:t>
              </a:r>
              <a:r>
                <a:rPr lang="en-US" sz="1400" b="1" dirty="0">
                  <a:solidFill>
                    <a:srgbClr val="00B4D8"/>
                  </a:solidFill>
                  <a:latin typeface="Calibri" pitchFamily="34" charset="0"/>
                </a:rPr>
                <a:t>true sovereign agent</a:t>
              </a:r>
              <a:r>
                <a:rPr lang="en-US" sz="1400" b="1" dirty="0">
                  <a:solidFill>
                    <a:srgbClr val="FFFFFF"/>
                  </a:solidFill>
                  <a:latin typeface="Calibri" pitchFamily="34" charset="0"/>
                </a:rPr>
                <a:t> — not just an API wrapper</a:t>
              </a:r>
            </a:p>
          </p:txBody>
        </p:sp>
        <p:sp>
          <p:nvSpPr>
            <p:cNvPr id="8" name="Brownie1">
              <a:extLst>
                <a:ext uri="{FF2B5EF4-FFF2-40B4-BE49-F238E27FC236}">
                  <a16:creationId xmlns:a16="http://schemas.microsoft.com/office/drawing/2014/main" id="{83CA1E24-F584-876F-A6AD-6C5A5D9740F9}"/>
                </a:ext>
              </a:extLst>
            </p:cNvPr>
            <p:cNvSpPr/>
            <p:nvPr/>
          </p:nvSpPr>
          <p:spPr>
            <a:xfrm>
              <a:off x="457200" y="2380000"/>
              <a:ext cx="3657600" cy="2600000"/>
            </a:xfrm>
            <a:prstGeom prst="rect">
              <a:avLst/>
            </a:prstGeom>
            <a:solidFill>
              <a:srgbClr val="F0F9FF"/>
            </a:solidFill>
            <a:ln w="25400">
              <a:solidFill>
                <a:srgbClr val="0077A8"/>
              </a:solidFill>
            </a:ln>
          </p:spPr>
          <p:txBody>
            <a:bodyPr wrap="square" lIns="228600" tIns="228600" rIns="228600" bIns="228600" rtlCol="0" anchor="t"/>
            <a:lstStyle/>
            <a:p>
              <a:pPr algn="ctr"/>
              <a:r>
                <a:rPr lang="en-US" sz="3200" b="0" dirty="0">
                  <a:solidFill>
                    <a:srgbClr val="0077A8"/>
                  </a:solidFill>
                </a:rPr>
                <a:t>📂</a:t>
              </a:r>
            </a:p>
            <a:p>
              <a:pPr algn="ctr"/>
              <a:r>
                <a:rPr lang="en-US" sz="1600" b="1" dirty="0">
                  <a:solidFill>
                    <a:srgbClr val="0077A8"/>
                  </a:solidFill>
                  <a:latin typeface="Calibri" pitchFamily="34" charset="0"/>
                </a:rPr>
                <a:t>Filesystem Autonomy</a:t>
              </a:r>
            </a:p>
            <a:p>
              <a:endParaRPr lang="en-US" sz="1400" dirty="0"/>
            </a:p>
            <a:p>
              <a:r>
                <a:rPr lang="en-US" sz="1400" b="0" dirty="0">
                  <a:latin typeface="Calibri" pitchFamily="34" charset="0"/>
                </a:rPr>
                <a:t>Runs inside a Dockerized sandbox with full filesystem access — compiles code, runs lint tests, builds Markdown roadmaps entirely on its own.</a:t>
              </a:r>
            </a:p>
          </p:txBody>
        </p:sp>
        <p:sp>
          <p:nvSpPr>
            <p:cNvPr id="10" name="Brownie2">
              <a:extLst>
                <a:ext uri="{FF2B5EF4-FFF2-40B4-BE49-F238E27FC236}">
                  <a16:creationId xmlns:a16="http://schemas.microsoft.com/office/drawing/2014/main" id="{0F7A6624-4EE5-AAAC-1CD3-2BE37C8F0194}"/>
                </a:ext>
              </a:extLst>
            </p:cNvPr>
            <p:cNvSpPr/>
            <p:nvPr/>
          </p:nvSpPr>
          <p:spPr>
            <a:xfrm>
              <a:off x="4267200" y="2380000"/>
              <a:ext cx="3657600" cy="2600000"/>
            </a:xfrm>
            <a:prstGeom prst="rect">
              <a:avLst/>
            </a:prstGeom>
            <a:solidFill>
              <a:srgbClr val="FFF3F3"/>
            </a:solidFill>
            <a:ln w="25400">
              <a:solidFill>
                <a:srgbClr val="E81B25"/>
              </a:solidFill>
            </a:ln>
          </p:spPr>
          <p:txBody>
            <a:bodyPr wrap="square" lIns="228600" tIns="228600" rIns="228600" bIns="228600" rtlCol="0" anchor="t"/>
            <a:lstStyle/>
            <a:p>
              <a:pPr algn="ctr"/>
              <a:r>
                <a:rPr lang="en-US" sz="3200" b="0" dirty="0">
                  <a:solidFill>
                    <a:srgbClr val="E81B25"/>
                  </a:solidFill>
                </a:rPr>
                <a:t>🧠</a:t>
              </a:r>
            </a:p>
            <a:p>
              <a:pPr algn="ctr"/>
              <a:r>
                <a:rPr lang="en-US" sz="1600" b="1" dirty="0">
                  <a:solidFill>
                    <a:srgbClr val="E81B25"/>
                  </a:solidFill>
                  <a:latin typeface="Calibri" pitchFamily="34" charset="0"/>
                </a:rPr>
                <a:t>Hybrid AI Engine</a:t>
              </a:r>
            </a:p>
            <a:p>
              <a:endParaRPr lang="en-US" sz="1400" dirty="0"/>
            </a:p>
            <a:p>
              <a:r>
                <a:rPr lang="en-US" sz="1400" b="0" dirty="0">
                  <a:latin typeface="Calibri" pitchFamily="34" charset="0"/>
                </a:rPr>
                <a:t>Dual-mode config: run fully offline via Ollama (Llama 3.2) OR switch dynamically to Groq Cloud for lightning-fast high-performance execution.</a:t>
              </a:r>
            </a:p>
          </p:txBody>
        </p:sp>
        <p:sp>
          <p:nvSpPr>
            <p:cNvPr id="11" name="Brownie3">
              <a:extLst>
                <a:ext uri="{FF2B5EF4-FFF2-40B4-BE49-F238E27FC236}">
                  <a16:creationId xmlns:a16="http://schemas.microsoft.com/office/drawing/2014/main" id="{35005681-1264-53A2-F53D-A2BD3D2B7C45}"/>
                </a:ext>
              </a:extLst>
            </p:cNvPr>
            <p:cNvSpPr/>
            <p:nvPr/>
          </p:nvSpPr>
          <p:spPr>
            <a:xfrm>
              <a:off x="8077200" y="2380000"/>
              <a:ext cx="3657600" cy="2600000"/>
            </a:xfrm>
            <a:prstGeom prst="rect">
              <a:avLst/>
            </a:prstGeom>
            <a:solidFill>
              <a:srgbClr val="F0FFF0"/>
            </a:solidFill>
            <a:ln w="25400">
              <a:solidFill>
                <a:srgbClr val="1C7A1C"/>
              </a:solidFill>
            </a:ln>
          </p:spPr>
          <p:txBody>
            <a:bodyPr wrap="square" lIns="228600" tIns="228600" rIns="228600" bIns="228600" rtlCol="0" anchor="t"/>
            <a:lstStyle/>
            <a:p>
              <a:pPr algn="ctr"/>
              <a:r>
                <a:rPr lang="en-US" sz="3200" b="0" dirty="0">
                  <a:solidFill>
                    <a:srgbClr val="1C7A1C"/>
                  </a:solidFill>
                </a:rPr>
                <a:t>🔒</a:t>
              </a:r>
            </a:p>
            <a:p>
              <a:pPr algn="ctr"/>
              <a:r>
                <a:rPr lang="en-US" sz="1600" b="1" dirty="0">
                  <a:solidFill>
                    <a:srgbClr val="1C7A1C"/>
                  </a:solidFill>
                  <a:latin typeface="Calibri" pitchFamily="34" charset="0"/>
                </a:rPr>
                <a:t>Enterprise-Grade Security</a:t>
              </a:r>
            </a:p>
            <a:p>
              <a:endParaRPr lang="en-US" sz="1400" dirty="0"/>
            </a:p>
            <a:p>
              <a:r>
                <a:rPr lang="en-US" sz="1400" b="0" dirty="0">
                  <a:latin typeface="Calibri" pitchFamily="34" charset="0"/>
                </a:rPr>
                <a:t>Zero hardcoded secrets. API keys secured via gitignored .env + python-dotenv, fully aligned with GitHub Push Protection standards.</a:t>
              </a:r>
            </a:p>
          </p:txBody>
        </p:sp>
        <p:sp>
          <p:nvSpPr>
            <p:cNvPr id="12" name="ThankYou">
              <a:extLst>
                <a:ext uri="{FF2B5EF4-FFF2-40B4-BE49-F238E27FC236}">
                  <a16:creationId xmlns:a16="http://schemas.microsoft.com/office/drawing/2014/main" id="{7F242E6E-3112-E8D6-F6DC-709BC424D0C5}"/>
                </a:ext>
              </a:extLst>
            </p:cNvPr>
            <p:cNvSpPr/>
            <p:nvPr/>
          </p:nvSpPr>
          <p:spPr>
            <a:xfrm>
              <a:off x="457200" y="5200000"/>
              <a:ext cx="11277600" cy="650000"/>
            </a:xfrm>
            <a:prstGeom prst="rect">
              <a:avLst/>
            </a:prstGeom>
            <a:solidFill>
              <a:srgbClr val="0077A8"/>
            </a:solidFill>
          </p:spPr>
          <p:txBody>
            <a:bodyPr wrap="square" lIns="228600" tIns="114300" rIns="228600" bIns="114300" rtlCol="0" anchor="ctr"/>
            <a:lstStyle/>
            <a:p>
              <a:pPr algn="ctr"/>
              <a:r>
                <a:rPr lang="en-US" sz="1400" b="1" dirty="0">
                  <a:solidFill>
                    <a:schemeClr val="bg1"/>
                  </a:solidFill>
                  <a:latin typeface="Calibri" pitchFamily="34" charset="0"/>
                </a:rPr>
                <a:t>Thank you! We are happy to open the floor to any questions.  </a:t>
              </a:r>
            </a:p>
            <a:p>
              <a:pPr algn="ctr"/>
              <a:r>
                <a:rPr lang="en-US" sz="1400" b="1" dirty="0">
                  <a:solidFill>
                    <a:schemeClr val="bg1"/>
                  </a:solidFill>
                  <a:latin typeface="Calibri" pitchFamily="34" charset="0"/>
                </a:rPr>
                <a:t>Team: </a:t>
              </a:r>
              <a:r>
                <a:rPr lang="en-US" sz="1400" b="1" dirty="0" err="1">
                  <a:solidFill>
                    <a:schemeClr val="bg1"/>
                  </a:solidFill>
                  <a:latin typeface="Calibri" pitchFamily="34" charset="0"/>
                </a:rPr>
                <a:t>RVCE_ClawMentors</a:t>
              </a:r>
              <a:endParaRPr lang="en-US" sz="1400" b="1" dirty="0">
                <a:solidFill>
                  <a:schemeClr val="bg1"/>
                </a:solidFill>
                <a:latin typeface="Calibri" pitchFamily="34" charset="0"/>
              </a:endParaRPr>
            </a:p>
          </p:txBody>
        </p:sp>
      </p:grpSp>
      <p:sp>
        <p:nvSpPr>
          <p:cNvPr id="13" name="Text 3">
            <a:extLst>
              <a:ext uri="{FF2B5EF4-FFF2-40B4-BE49-F238E27FC236}">
                <a16:creationId xmlns:a16="http://schemas.microsoft.com/office/drawing/2014/main" id="{36A3EF88-96DE-0B18-DB38-CC125D9BC929}"/>
              </a:ext>
            </a:extLst>
          </p:cNvPr>
          <p:cNvSpPr/>
          <p:nvPr/>
        </p:nvSpPr>
        <p:spPr>
          <a:xfrm>
            <a:off x="609600" y="670560"/>
            <a:ext cx="10972800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4267" b="1" dirty="0">
                <a:latin typeface="Calibri" pitchFamily="34" charset="0"/>
              </a:rPr>
              <a:t>The Sovereign Evolution </a:t>
            </a:r>
          </a:p>
        </p:txBody>
      </p:sp>
    </p:spTree>
    <p:extLst>
      <p:ext uri="{BB962C8B-B14F-4D97-AF65-F5344CB8AC3E}">
        <p14:creationId xmlns:p14="http://schemas.microsoft.com/office/powerpoint/2010/main" val="230823234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123</TotalTime>
  <Words>1244</Words>
  <Application>Microsoft Office PowerPoint</Application>
  <PresentationFormat>Widescreen</PresentationFormat>
  <Paragraphs>180</Paragraphs>
  <Slides>10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Berlin Sans FB Demi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Prakhar Chandrakar ./PRISM /SRI-Bangalore/Professional/Samsung Electronics</dc:creator>
  <cp:lastModifiedBy>sahana v s</cp:lastModifiedBy>
  <cp:revision>5</cp:revision>
  <dcterms:created xsi:type="dcterms:W3CDTF">2026-04-27T09:11:02Z</dcterms:created>
  <dcterms:modified xsi:type="dcterms:W3CDTF">2026-05-11T13:24:00Z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SCPROP">
    <vt:lpwstr>NSCCustomProperty</vt:lpwstr>
  </property>
</Properties>
</file>